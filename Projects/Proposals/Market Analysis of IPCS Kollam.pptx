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ptos Bold" charset="1" panose="020B0004020202020204"/>
      <p:regular r:id="rId19"/>
    </p:embeddedFont>
    <p:embeddedFont>
      <p:font typeface="Aptos" charset="1" panose="020B00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D3A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63533" y="5620807"/>
            <a:ext cx="4955915" cy="1867405"/>
            <a:chOff x="0" y="0"/>
            <a:chExt cx="6607886" cy="24898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7937" cy="2489962"/>
            </a:xfrm>
            <a:custGeom>
              <a:avLst/>
              <a:gdLst/>
              <a:ahLst/>
              <a:cxnLst/>
              <a:rect r="r" b="b" t="t" l="l"/>
              <a:pathLst>
                <a:path h="2489962" w="6607937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6192901" y="0"/>
                  </a:lnTo>
                  <a:cubicBezTo>
                    <a:pt x="6422136" y="0"/>
                    <a:pt x="6607937" y="185801"/>
                    <a:pt x="6607937" y="415036"/>
                  </a:cubicBezTo>
                  <a:lnTo>
                    <a:pt x="6607937" y="2074926"/>
                  </a:lnTo>
                  <a:cubicBezTo>
                    <a:pt x="6607937" y="2304161"/>
                    <a:pt x="6422136" y="2489962"/>
                    <a:pt x="6192901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279690" y="5620807"/>
            <a:ext cx="4955915" cy="1867405"/>
            <a:chOff x="0" y="0"/>
            <a:chExt cx="6607886" cy="24898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7937" cy="2489962"/>
            </a:xfrm>
            <a:custGeom>
              <a:avLst/>
              <a:gdLst/>
              <a:ahLst/>
              <a:cxnLst/>
              <a:rect r="r" b="b" t="t" l="l"/>
              <a:pathLst>
                <a:path h="2489962" w="6607937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6192901" y="0"/>
                  </a:lnTo>
                  <a:cubicBezTo>
                    <a:pt x="6422136" y="0"/>
                    <a:pt x="6607937" y="185801"/>
                    <a:pt x="6607937" y="415036"/>
                  </a:cubicBezTo>
                  <a:lnTo>
                    <a:pt x="6607937" y="2074926"/>
                  </a:lnTo>
                  <a:cubicBezTo>
                    <a:pt x="6607937" y="2304161"/>
                    <a:pt x="6422136" y="2489962"/>
                    <a:pt x="6192901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490883" y="1513168"/>
            <a:ext cx="7531624" cy="4569185"/>
          </a:xfrm>
          <a:custGeom>
            <a:avLst/>
            <a:gdLst/>
            <a:ahLst/>
            <a:cxnLst/>
            <a:rect r="r" b="b" t="t" l="l"/>
            <a:pathLst>
              <a:path h="4569185" w="7531624">
                <a:moveTo>
                  <a:pt x="0" y="0"/>
                </a:moveTo>
                <a:lnTo>
                  <a:pt x="7531624" y="0"/>
                </a:lnTo>
                <a:lnTo>
                  <a:pt x="7531624" y="4569185"/>
                </a:lnTo>
                <a:lnTo>
                  <a:pt x="0" y="4569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120940" y="1908353"/>
            <a:ext cx="10523963" cy="72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4"/>
              </a:lnSpc>
            </a:pPr>
            <a:r>
              <a:rPr lang="en-US" sz="4653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MARKET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0940" y="2850175"/>
            <a:ext cx="11896639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5"/>
              </a:lnSpc>
            </a:pPr>
            <a:r>
              <a:rPr lang="en-US" sz="5854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IPCS Global Kollam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2126" y="4053926"/>
            <a:ext cx="10386698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Digital Marketing Market Analysis Report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4116" y="5893308"/>
            <a:ext cx="415476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Prepared for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64116" y="6487754"/>
            <a:ext cx="4154767" cy="78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Digital Marketing Course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Market Analysis Assignment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80264" y="5893308"/>
            <a:ext cx="415476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Scope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80264" y="6487754"/>
            <a:ext cx="4154767" cy="78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Market • Competitors • SEO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Website • Social • Branding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D3A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3719" y="2120494"/>
            <a:ext cx="5161817" cy="2759640"/>
            <a:chOff x="0" y="0"/>
            <a:chExt cx="6882422" cy="3679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513043" y="2120494"/>
            <a:ext cx="5161817" cy="2759640"/>
            <a:chOff x="0" y="0"/>
            <a:chExt cx="6882422" cy="3679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072366" y="2120494"/>
            <a:ext cx="5161817" cy="2759640"/>
            <a:chOff x="0" y="0"/>
            <a:chExt cx="6882422" cy="3679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53719" y="5277641"/>
            <a:ext cx="7907169" cy="2965542"/>
            <a:chOff x="0" y="0"/>
            <a:chExt cx="10542892" cy="39540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42905" cy="3954018"/>
            </a:xfrm>
            <a:custGeom>
              <a:avLst/>
              <a:gdLst/>
              <a:ahLst/>
              <a:cxnLst/>
              <a:rect r="r" b="b" t="t" l="l"/>
              <a:pathLst>
                <a:path h="3954018" w="10542905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9883902" y="0"/>
                  </a:lnTo>
                  <a:cubicBezTo>
                    <a:pt x="10247884" y="0"/>
                    <a:pt x="10542905" y="295021"/>
                    <a:pt x="10542905" y="659003"/>
                  </a:cubicBezTo>
                  <a:lnTo>
                    <a:pt x="10542905" y="3295015"/>
                  </a:lnTo>
                  <a:cubicBezTo>
                    <a:pt x="10542905" y="3658997"/>
                    <a:pt x="10247884" y="3954018"/>
                    <a:pt x="9883902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258386" y="5277641"/>
            <a:ext cx="7975797" cy="2965542"/>
            <a:chOff x="0" y="0"/>
            <a:chExt cx="10634396" cy="39540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34345" cy="3954018"/>
            </a:xfrm>
            <a:custGeom>
              <a:avLst/>
              <a:gdLst/>
              <a:ahLst/>
              <a:cxnLst/>
              <a:rect r="r" b="b" t="t" l="l"/>
              <a:pathLst>
                <a:path h="3954018" w="10634345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9975342" y="0"/>
                  </a:lnTo>
                  <a:cubicBezTo>
                    <a:pt x="10339324" y="0"/>
                    <a:pt x="10634345" y="295021"/>
                    <a:pt x="10634345" y="659003"/>
                  </a:cubicBezTo>
                  <a:lnTo>
                    <a:pt x="10634345" y="3295015"/>
                  </a:lnTo>
                  <a:cubicBezTo>
                    <a:pt x="10634345" y="3658997"/>
                    <a:pt x="10339324" y="3954018"/>
                    <a:pt x="9975342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83675" y="672951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01  |  Brand 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1126" y="1459573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What IPCS Global Kollam currently communicates online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4293" y="2392994"/>
            <a:ext cx="436066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Positioning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4293" y="2987440"/>
            <a:ext cx="4360669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Digital marketing training institute in Kollam with practical, industry-oriented training and multiple course formats.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13626" y="2392994"/>
            <a:ext cx="436066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Course Portfolio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13626" y="2987440"/>
            <a:ext cx="4360669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Professional Diploma • Advanced Certificate • SEO • SEM • SMM • Affiliate Marketing • Analytics and more.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72949" y="2392994"/>
            <a:ext cx="436066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BE48"/>
                </a:solidFill>
                <a:latin typeface="Aptos Bold"/>
                <a:ea typeface="Aptos Bold"/>
                <a:cs typeface="Aptos Bold"/>
                <a:sym typeface="Aptos Bold"/>
              </a:rPr>
              <a:t>Career Proposition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72949" y="2987440"/>
            <a:ext cx="4360669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Live industrial experience, internships, industry-expert trainers, certifications and placement-oriented learning.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4293" y="5550132"/>
            <a:ext cx="710601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USP Opportunities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4293" y="6144587"/>
            <a:ext cx="7106012" cy="188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Established IPCS brand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Broad digital-marketing curriculum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Real-time industry exposure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In-campus + online training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Central Kollam location (Chinnakada)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58969" y="5550132"/>
            <a:ext cx="717464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Key Finding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58969" y="6144587"/>
            <a:ext cx="7174640" cy="188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The offer is strong, but the Kollam story can be more distinctive: show local student outcomes, projects, trainer expertise and day-to-day classroom experience.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4861" y="9809626"/>
            <a:ext cx="16151924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IPCS GLOBAL KOLLAM  •  MARKET ANALYSIS  |  02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073592" y="-198161"/>
            <a:ext cx="2371417" cy="1438659"/>
          </a:xfrm>
          <a:custGeom>
            <a:avLst/>
            <a:gdLst/>
            <a:ahLst/>
            <a:cxnLst/>
            <a:rect r="r" b="b" t="t" l="l"/>
            <a:pathLst>
              <a:path h="1438659" w="2371417">
                <a:moveTo>
                  <a:pt x="0" y="0"/>
                </a:moveTo>
                <a:lnTo>
                  <a:pt x="2371416" y="0"/>
                </a:lnTo>
                <a:lnTo>
                  <a:pt x="2371416" y="1438659"/>
                </a:lnTo>
                <a:lnTo>
                  <a:pt x="0" y="1438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D3A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3719" y="2120494"/>
            <a:ext cx="5161817" cy="2759640"/>
            <a:chOff x="0" y="0"/>
            <a:chExt cx="6882422" cy="3679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650307" y="2120494"/>
            <a:ext cx="5161817" cy="2759640"/>
            <a:chOff x="0" y="0"/>
            <a:chExt cx="6882422" cy="3679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346905" y="2120494"/>
            <a:ext cx="5161817" cy="2759640"/>
            <a:chOff x="0" y="0"/>
            <a:chExt cx="6882422" cy="3679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53719" y="5483542"/>
            <a:ext cx="5161817" cy="2759640"/>
            <a:chOff x="0" y="0"/>
            <a:chExt cx="6882422" cy="3679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382922" y="5483542"/>
            <a:ext cx="4747231" cy="2759640"/>
            <a:chOff x="0" y="0"/>
            <a:chExt cx="6329642" cy="3679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29607" cy="3679571"/>
            </a:xfrm>
            <a:custGeom>
              <a:avLst/>
              <a:gdLst/>
              <a:ahLst/>
              <a:cxnLst/>
              <a:rect r="r" b="b" t="t" l="l"/>
              <a:pathLst>
                <a:path h="3679571" w="6329607">
                  <a:moveTo>
                    <a:pt x="0" y="613283"/>
                  </a:moveTo>
                  <a:cubicBezTo>
                    <a:pt x="0" y="274574"/>
                    <a:pt x="252521" y="0"/>
                    <a:pt x="564026" y="0"/>
                  </a:cubicBezTo>
                  <a:lnTo>
                    <a:pt x="5765581" y="0"/>
                  </a:lnTo>
                  <a:cubicBezTo>
                    <a:pt x="6077086" y="0"/>
                    <a:pt x="6329607" y="274574"/>
                    <a:pt x="6329607" y="613283"/>
                  </a:cubicBezTo>
                  <a:lnTo>
                    <a:pt x="6329607" y="3066288"/>
                  </a:lnTo>
                  <a:cubicBezTo>
                    <a:pt x="6329607" y="3404997"/>
                    <a:pt x="6077086" y="3679571"/>
                    <a:pt x="5765581" y="3679571"/>
                  </a:cubicBezTo>
                  <a:lnTo>
                    <a:pt x="564026" y="3679571"/>
                  </a:lnTo>
                  <a:cubicBezTo>
                    <a:pt x="252521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783495" y="5756034"/>
            <a:ext cx="436066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Working Professionals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69484" y="6268850"/>
            <a:ext cx="4360669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Upskill for performance marketing, content and analytics.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374803" y="5483542"/>
            <a:ext cx="6259954" cy="2759640"/>
            <a:chOff x="0" y="0"/>
            <a:chExt cx="8346605" cy="3679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46567" cy="3679571"/>
            </a:xfrm>
            <a:custGeom>
              <a:avLst/>
              <a:gdLst/>
              <a:ahLst/>
              <a:cxnLst/>
              <a:rect r="r" b="b" t="t" l="l"/>
              <a:pathLst>
                <a:path h="3679571" w="8346567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7733284" y="0"/>
                  </a:lnTo>
                  <a:cubicBezTo>
                    <a:pt x="8071993" y="0"/>
                    <a:pt x="8346567" y="274574"/>
                    <a:pt x="8346567" y="613283"/>
                  </a:cubicBezTo>
                  <a:lnTo>
                    <a:pt x="8346567" y="3066288"/>
                  </a:lnTo>
                  <a:cubicBezTo>
                    <a:pt x="8346567" y="3404997"/>
                    <a:pt x="8071993" y="3679571"/>
                    <a:pt x="7733284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6073592" y="-198161"/>
            <a:ext cx="2371417" cy="1438659"/>
          </a:xfrm>
          <a:custGeom>
            <a:avLst/>
            <a:gdLst/>
            <a:ahLst/>
            <a:cxnLst/>
            <a:rect r="r" b="b" t="t" l="l"/>
            <a:pathLst>
              <a:path h="1438659" w="2371417">
                <a:moveTo>
                  <a:pt x="0" y="0"/>
                </a:moveTo>
                <a:lnTo>
                  <a:pt x="2371416" y="0"/>
                </a:lnTo>
                <a:lnTo>
                  <a:pt x="2371416" y="1438659"/>
                </a:lnTo>
                <a:lnTo>
                  <a:pt x="0" y="1438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83675" y="672951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02  |  Market &amp; Target Audience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1126" y="1459573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Primary audiences and what motivates them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4293" y="2392994"/>
            <a:ext cx="436066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College Students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4293" y="2987440"/>
            <a:ext cx="4360669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Want job-ready skills alongside degree studies.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50891" y="2392994"/>
            <a:ext cx="436066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Fresh Graduates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50891" y="2987440"/>
            <a:ext cx="4360669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Need practical experience, portfolio and employability.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47479" y="2392994"/>
            <a:ext cx="436066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BE48"/>
                </a:solidFill>
                <a:latin typeface="Aptos Bold"/>
                <a:ea typeface="Aptos Bold"/>
                <a:cs typeface="Aptos Bold"/>
                <a:sym typeface="Aptos Bold"/>
              </a:rPr>
              <a:t>Career Switchers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47479" y="2987440"/>
            <a:ext cx="4360669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Look for a structured entry into digital roles.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4293" y="5756034"/>
            <a:ext cx="436066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Entrepreneurs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4293" y="6350489"/>
            <a:ext cx="4360669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Need SEO, social media, ads and analytics to grow a business.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49342" y="5756034"/>
            <a:ext cx="545880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Core Persona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676793" y="6268850"/>
            <a:ext cx="5458806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Age: ~18–30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Location: Kollam + nearby districts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Need: practical skills + career confidence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Decision factors: fees, credibility, projects, placements, reviews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4861" y="9809626"/>
            <a:ext cx="16151924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IPCS GLOBAL KOLLAM  •  MARKET ANALYSIS  | 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D3A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672951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03  |  Competitor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1126" y="1459573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How the local offer is positioned online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3719" y="1983229"/>
            <a:ext cx="3377346" cy="769268"/>
            <a:chOff x="0" y="0"/>
            <a:chExt cx="4503128" cy="10256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03166" cy="1025652"/>
            </a:xfrm>
            <a:custGeom>
              <a:avLst/>
              <a:gdLst/>
              <a:ahLst/>
              <a:cxnLst/>
              <a:rect r="r" b="b" t="t" l="l"/>
              <a:pathLst>
                <a:path h="1025652" w="4503166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4332224" y="0"/>
                  </a:lnTo>
                  <a:cubicBezTo>
                    <a:pt x="4426585" y="0"/>
                    <a:pt x="4503166" y="76581"/>
                    <a:pt x="4503166" y="170942"/>
                  </a:cubicBezTo>
                  <a:lnTo>
                    <a:pt x="4503166" y="854710"/>
                  </a:lnTo>
                  <a:cubicBezTo>
                    <a:pt x="4503166" y="949071"/>
                    <a:pt x="4426585" y="1025652"/>
                    <a:pt x="4332224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54293" y="2255720"/>
            <a:ext cx="257618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Factor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316768" y="1983229"/>
            <a:ext cx="4338218" cy="769268"/>
            <a:chOff x="0" y="0"/>
            <a:chExt cx="5784291" cy="10256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84342" cy="1025652"/>
            </a:xfrm>
            <a:custGeom>
              <a:avLst/>
              <a:gdLst/>
              <a:ahLst/>
              <a:cxnLst/>
              <a:rect r="r" b="b" t="t" l="l"/>
              <a:pathLst>
                <a:path h="1025652" w="578434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5613400" y="0"/>
                  </a:lnTo>
                  <a:cubicBezTo>
                    <a:pt x="5707761" y="0"/>
                    <a:pt x="5784342" y="76581"/>
                    <a:pt x="5784342" y="170942"/>
                  </a:cubicBezTo>
                  <a:lnTo>
                    <a:pt x="5784342" y="854710"/>
                  </a:lnTo>
                  <a:cubicBezTo>
                    <a:pt x="5784342" y="949071"/>
                    <a:pt x="5707761" y="1025652"/>
                    <a:pt x="5613400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4717342" y="2255720"/>
            <a:ext cx="353706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IPCS Global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640689" y="1983229"/>
            <a:ext cx="4338218" cy="769268"/>
            <a:chOff x="0" y="0"/>
            <a:chExt cx="5784291" cy="1025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84342" cy="1025652"/>
            </a:xfrm>
            <a:custGeom>
              <a:avLst/>
              <a:gdLst/>
              <a:ahLst/>
              <a:cxnLst/>
              <a:rect r="r" b="b" t="t" l="l"/>
              <a:pathLst>
                <a:path h="1025652" w="578434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5613400" y="0"/>
                  </a:lnTo>
                  <a:cubicBezTo>
                    <a:pt x="5707761" y="0"/>
                    <a:pt x="5784342" y="76581"/>
                    <a:pt x="5784342" y="170942"/>
                  </a:cubicBezTo>
                  <a:lnTo>
                    <a:pt x="5784342" y="854710"/>
                  </a:lnTo>
                  <a:cubicBezTo>
                    <a:pt x="5784342" y="949071"/>
                    <a:pt x="5707761" y="1025652"/>
                    <a:pt x="5613400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041263" y="2255720"/>
            <a:ext cx="353706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CIIM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964601" y="1983229"/>
            <a:ext cx="4887287" cy="769268"/>
            <a:chOff x="0" y="0"/>
            <a:chExt cx="6516383" cy="10256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16370" cy="1025652"/>
            </a:xfrm>
            <a:custGeom>
              <a:avLst/>
              <a:gdLst/>
              <a:ahLst/>
              <a:cxnLst/>
              <a:rect r="r" b="b" t="t" l="l"/>
              <a:pathLst>
                <a:path h="1025652" w="6516370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6345428" y="0"/>
                  </a:lnTo>
                  <a:cubicBezTo>
                    <a:pt x="6439789" y="0"/>
                    <a:pt x="6516370" y="76581"/>
                    <a:pt x="6516370" y="170942"/>
                  </a:cubicBezTo>
                  <a:lnTo>
                    <a:pt x="6516370" y="854710"/>
                  </a:lnTo>
                  <a:cubicBezTo>
                    <a:pt x="6516370" y="949071"/>
                    <a:pt x="6439789" y="1025652"/>
                    <a:pt x="6345428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365185" y="2255720"/>
            <a:ext cx="408613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Dmake Academy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3719" y="2875464"/>
            <a:ext cx="3377346" cy="1043807"/>
            <a:chOff x="0" y="0"/>
            <a:chExt cx="4503128" cy="13917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03166" cy="1391793"/>
            </a:xfrm>
            <a:custGeom>
              <a:avLst/>
              <a:gdLst/>
              <a:ahLst/>
              <a:cxnLst/>
              <a:rect r="r" b="b" t="t" l="l"/>
              <a:pathLst>
                <a:path h="1391793" w="4503166">
                  <a:moveTo>
                    <a:pt x="0" y="0"/>
                  </a:moveTo>
                  <a:lnTo>
                    <a:pt x="4503166" y="0"/>
                  </a:lnTo>
                  <a:lnTo>
                    <a:pt x="4503166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17028" y="3093053"/>
            <a:ext cx="2850728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Core positioning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316768" y="2875464"/>
            <a:ext cx="4338218" cy="1043807"/>
            <a:chOff x="0" y="0"/>
            <a:chExt cx="5784291" cy="13917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84342" cy="1391793"/>
            </a:xfrm>
            <a:custGeom>
              <a:avLst/>
              <a:gdLst/>
              <a:ahLst/>
              <a:cxnLst/>
              <a:rect r="r" b="b" t="t" l="l"/>
              <a:pathLst>
                <a:path h="1391793" w="5784342">
                  <a:moveTo>
                    <a:pt x="0" y="0"/>
                  </a:moveTo>
                  <a:lnTo>
                    <a:pt x="5784342" y="0"/>
                  </a:lnTo>
                  <a:lnTo>
                    <a:pt x="5784342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4580077" y="3093053"/>
            <a:ext cx="3811600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Broad, industry-oriented training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640689" y="2875464"/>
            <a:ext cx="4338218" cy="1043807"/>
            <a:chOff x="0" y="0"/>
            <a:chExt cx="5784291" cy="139174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84342" cy="1391793"/>
            </a:xfrm>
            <a:custGeom>
              <a:avLst/>
              <a:gdLst/>
              <a:ahLst/>
              <a:cxnLst/>
              <a:rect r="r" b="b" t="t" l="l"/>
              <a:pathLst>
                <a:path h="1391793" w="5784342">
                  <a:moveTo>
                    <a:pt x="0" y="0"/>
                  </a:moveTo>
                  <a:lnTo>
                    <a:pt x="5784342" y="0"/>
                  </a:lnTo>
                  <a:lnTo>
                    <a:pt x="5784342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8903999" y="3093053"/>
            <a:ext cx="3811600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AI + certification + placement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964601" y="2875464"/>
            <a:ext cx="4887287" cy="1043807"/>
            <a:chOff x="0" y="0"/>
            <a:chExt cx="6516383" cy="13917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16370" cy="1391793"/>
            </a:xfrm>
            <a:custGeom>
              <a:avLst/>
              <a:gdLst/>
              <a:ahLst/>
              <a:cxnLst/>
              <a:rect r="r" b="b" t="t" l="l"/>
              <a:pathLst>
                <a:path h="1391793" w="6516370">
                  <a:moveTo>
                    <a:pt x="0" y="0"/>
                  </a:moveTo>
                  <a:lnTo>
                    <a:pt x="6516370" y="0"/>
                  </a:lnTo>
                  <a:lnTo>
                    <a:pt x="6516370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3227910" y="3093053"/>
            <a:ext cx="4360669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Agency-based + AI + practical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53719" y="4055964"/>
            <a:ext cx="3377346" cy="1043807"/>
            <a:chOff x="0" y="0"/>
            <a:chExt cx="4503128" cy="139174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03166" cy="1391793"/>
            </a:xfrm>
            <a:custGeom>
              <a:avLst/>
              <a:gdLst/>
              <a:ahLst/>
              <a:cxnLst/>
              <a:rect r="r" b="b" t="t" l="l"/>
              <a:pathLst>
                <a:path h="1391793" w="4503166">
                  <a:moveTo>
                    <a:pt x="0" y="0"/>
                  </a:moveTo>
                  <a:lnTo>
                    <a:pt x="4503166" y="0"/>
                  </a:lnTo>
                  <a:lnTo>
                    <a:pt x="4503166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217028" y="4273553"/>
            <a:ext cx="2850728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Practical exposure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4316768" y="4055964"/>
            <a:ext cx="4338218" cy="1043807"/>
            <a:chOff x="0" y="0"/>
            <a:chExt cx="5784291" cy="139174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84342" cy="1391793"/>
            </a:xfrm>
            <a:custGeom>
              <a:avLst/>
              <a:gdLst/>
              <a:ahLst/>
              <a:cxnLst/>
              <a:rect r="r" b="b" t="t" l="l"/>
              <a:pathLst>
                <a:path h="1391793" w="5784342">
                  <a:moveTo>
                    <a:pt x="0" y="0"/>
                  </a:moveTo>
                  <a:lnTo>
                    <a:pt x="5784342" y="0"/>
                  </a:lnTo>
                  <a:lnTo>
                    <a:pt x="5784342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4580077" y="4273553"/>
            <a:ext cx="3811600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Internships / industrial experience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640689" y="4055964"/>
            <a:ext cx="4338218" cy="1043807"/>
            <a:chOff x="0" y="0"/>
            <a:chExt cx="5784291" cy="13917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84342" cy="1391793"/>
            </a:xfrm>
            <a:custGeom>
              <a:avLst/>
              <a:gdLst/>
              <a:ahLst/>
              <a:cxnLst/>
              <a:rect r="r" b="b" t="t" l="l"/>
              <a:pathLst>
                <a:path h="1391793" w="5784342">
                  <a:moveTo>
                    <a:pt x="0" y="0"/>
                  </a:moveTo>
                  <a:lnTo>
                    <a:pt x="5784342" y="0"/>
                  </a:lnTo>
                  <a:lnTo>
                    <a:pt x="5784342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8903999" y="4273553"/>
            <a:ext cx="3811600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Live projects + internship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964601" y="4055964"/>
            <a:ext cx="4887287" cy="1043807"/>
            <a:chOff x="0" y="0"/>
            <a:chExt cx="6516383" cy="139174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16370" cy="1391793"/>
            </a:xfrm>
            <a:custGeom>
              <a:avLst/>
              <a:gdLst/>
              <a:ahLst/>
              <a:cxnLst/>
              <a:rect r="r" b="b" t="t" l="l"/>
              <a:pathLst>
                <a:path h="1391793" w="6516370">
                  <a:moveTo>
                    <a:pt x="0" y="0"/>
                  </a:moveTo>
                  <a:lnTo>
                    <a:pt x="6516370" y="0"/>
                  </a:lnTo>
                  <a:lnTo>
                    <a:pt x="6516370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3227910" y="4273553"/>
            <a:ext cx="4360669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Real client projects + agency internship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53719" y="5236454"/>
            <a:ext cx="3377346" cy="1043807"/>
            <a:chOff x="0" y="0"/>
            <a:chExt cx="4503128" cy="139174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03166" cy="1391793"/>
            </a:xfrm>
            <a:custGeom>
              <a:avLst/>
              <a:gdLst/>
              <a:ahLst/>
              <a:cxnLst/>
              <a:rect r="r" b="b" t="t" l="l"/>
              <a:pathLst>
                <a:path h="1391793" w="4503166">
                  <a:moveTo>
                    <a:pt x="0" y="0"/>
                  </a:moveTo>
                  <a:lnTo>
                    <a:pt x="4503166" y="0"/>
                  </a:lnTo>
                  <a:lnTo>
                    <a:pt x="4503166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217028" y="5454053"/>
            <a:ext cx="2850728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Course breadth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316768" y="5236454"/>
            <a:ext cx="4338218" cy="1043807"/>
            <a:chOff x="0" y="0"/>
            <a:chExt cx="5784291" cy="139174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784342" cy="1391793"/>
            </a:xfrm>
            <a:custGeom>
              <a:avLst/>
              <a:gdLst/>
              <a:ahLst/>
              <a:cxnLst/>
              <a:rect r="r" b="b" t="t" l="l"/>
              <a:pathLst>
                <a:path h="1391793" w="5784342">
                  <a:moveTo>
                    <a:pt x="0" y="0"/>
                  </a:moveTo>
                  <a:lnTo>
                    <a:pt x="5784342" y="0"/>
                  </a:lnTo>
                  <a:lnTo>
                    <a:pt x="5784342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4580077" y="5454053"/>
            <a:ext cx="3811600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Very broad digital menu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640689" y="5236454"/>
            <a:ext cx="4338218" cy="1043807"/>
            <a:chOff x="0" y="0"/>
            <a:chExt cx="5784291" cy="139174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784342" cy="1391793"/>
            </a:xfrm>
            <a:custGeom>
              <a:avLst/>
              <a:gdLst/>
              <a:ahLst/>
              <a:cxnLst/>
              <a:rect r="r" b="b" t="t" l="l"/>
              <a:pathLst>
                <a:path h="1391793" w="5784342">
                  <a:moveTo>
                    <a:pt x="0" y="0"/>
                  </a:moveTo>
                  <a:lnTo>
                    <a:pt x="5784342" y="0"/>
                  </a:lnTo>
                  <a:lnTo>
                    <a:pt x="5784342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8903999" y="5454053"/>
            <a:ext cx="3811600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73+ modules / multiple programs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964601" y="5236454"/>
            <a:ext cx="4887287" cy="1043807"/>
            <a:chOff x="0" y="0"/>
            <a:chExt cx="6516383" cy="139174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516370" cy="1391793"/>
            </a:xfrm>
            <a:custGeom>
              <a:avLst/>
              <a:gdLst/>
              <a:ahLst/>
              <a:cxnLst/>
              <a:rect r="r" b="b" t="t" l="l"/>
              <a:pathLst>
                <a:path h="1391793" w="6516370">
                  <a:moveTo>
                    <a:pt x="0" y="0"/>
                  </a:moveTo>
                  <a:lnTo>
                    <a:pt x="6516370" y="0"/>
                  </a:lnTo>
                  <a:lnTo>
                    <a:pt x="6516370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13227910" y="5454053"/>
            <a:ext cx="4360669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Digital marketing + multimedia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53719" y="6416954"/>
            <a:ext cx="3377346" cy="1043807"/>
            <a:chOff x="0" y="0"/>
            <a:chExt cx="4503128" cy="139174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503166" cy="1391793"/>
            </a:xfrm>
            <a:custGeom>
              <a:avLst/>
              <a:gdLst/>
              <a:ahLst/>
              <a:cxnLst/>
              <a:rect r="r" b="b" t="t" l="l"/>
              <a:pathLst>
                <a:path h="1391793" w="4503166">
                  <a:moveTo>
                    <a:pt x="0" y="0"/>
                  </a:moveTo>
                  <a:lnTo>
                    <a:pt x="4503166" y="0"/>
                  </a:lnTo>
                  <a:lnTo>
                    <a:pt x="4503166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1217028" y="6634544"/>
            <a:ext cx="2850728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AI positioning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4316768" y="6416954"/>
            <a:ext cx="4338218" cy="1043807"/>
            <a:chOff x="0" y="0"/>
            <a:chExt cx="5784291" cy="139174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784342" cy="1391793"/>
            </a:xfrm>
            <a:custGeom>
              <a:avLst/>
              <a:gdLst/>
              <a:ahLst/>
              <a:cxnLst/>
              <a:rect r="r" b="b" t="t" l="l"/>
              <a:pathLst>
                <a:path h="1391793" w="5784342">
                  <a:moveTo>
                    <a:pt x="0" y="0"/>
                  </a:moveTo>
                  <a:lnTo>
                    <a:pt x="5784342" y="0"/>
                  </a:lnTo>
                  <a:lnTo>
                    <a:pt x="5784342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4580077" y="6634544"/>
            <a:ext cx="3811600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Opportunity to strengthen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8640689" y="6416954"/>
            <a:ext cx="4338218" cy="1043807"/>
            <a:chOff x="0" y="0"/>
            <a:chExt cx="5784291" cy="139174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84342" cy="1391793"/>
            </a:xfrm>
            <a:custGeom>
              <a:avLst/>
              <a:gdLst/>
              <a:ahLst/>
              <a:cxnLst/>
              <a:rect r="r" b="b" t="t" l="l"/>
              <a:pathLst>
                <a:path h="1391793" w="5784342">
                  <a:moveTo>
                    <a:pt x="0" y="0"/>
                  </a:moveTo>
                  <a:lnTo>
                    <a:pt x="5784342" y="0"/>
                  </a:lnTo>
                  <a:lnTo>
                    <a:pt x="5784342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62" id="62"/>
          <p:cNvSpPr txBox="true"/>
          <p:nvPr/>
        </p:nvSpPr>
        <p:spPr>
          <a:xfrm rot="0">
            <a:off x="8903999" y="6634544"/>
            <a:ext cx="3811600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Strong and explicit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2964601" y="6416954"/>
            <a:ext cx="4887287" cy="1043807"/>
            <a:chOff x="0" y="0"/>
            <a:chExt cx="6516383" cy="139174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516370" cy="1391793"/>
            </a:xfrm>
            <a:custGeom>
              <a:avLst/>
              <a:gdLst/>
              <a:ahLst/>
              <a:cxnLst/>
              <a:rect r="r" b="b" t="t" l="l"/>
              <a:pathLst>
                <a:path h="1391793" w="6516370">
                  <a:moveTo>
                    <a:pt x="0" y="0"/>
                  </a:moveTo>
                  <a:lnTo>
                    <a:pt x="6516370" y="0"/>
                  </a:lnTo>
                  <a:lnTo>
                    <a:pt x="6516370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65" id="65"/>
          <p:cNvSpPr txBox="true"/>
          <p:nvPr/>
        </p:nvSpPr>
        <p:spPr>
          <a:xfrm rot="0">
            <a:off x="13227910" y="6634544"/>
            <a:ext cx="4360669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Strong and explicit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53719" y="7597454"/>
            <a:ext cx="3377346" cy="1043807"/>
            <a:chOff x="0" y="0"/>
            <a:chExt cx="4503128" cy="139174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503166" cy="1391793"/>
            </a:xfrm>
            <a:custGeom>
              <a:avLst/>
              <a:gdLst/>
              <a:ahLst/>
              <a:cxnLst/>
              <a:rect r="r" b="b" t="t" l="l"/>
              <a:pathLst>
                <a:path h="1391793" w="4503166">
                  <a:moveTo>
                    <a:pt x="0" y="0"/>
                  </a:moveTo>
                  <a:lnTo>
                    <a:pt x="4503166" y="0"/>
                  </a:lnTo>
                  <a:lnTo>
                    <a:pt x="4503166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1217028" y="7815043"/>
            <a:ext cx="2850728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Local differentiation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4316768" y="7597454"/>
            <a:ext cx="4338218" cy="1043807"/>
            <a:chOff x="0" y="0"/>
            <a:chExt cx="5784291" cy="139174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784342" cy="1391793"/>
            </a:xfrm>
            <a:custGeom>
              <a:avLst/>
              <a:gdLst/>
              <a:ahLst/>
              <a:cxnLst/>
              <a:rect r="r" b="b" t="t" l="l"/>
              <a:pathLst>
                <a:path h="1391793" w="5784342">
                  <a:moveTo>
                    <a:pt x="0" y="0"/>
                  </a:moveTo>
                  <a:lnTo>
                    <a:pt x="5784342" y="0"/>
                  </a:lnTo>
                  <a:lnTo>
                    <a:pt x="5784342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71" id="71"/>
          <p:cNvSpPr txBox="true"/>
          <p:nvPr/>
        </p:nvSpPr>
        <p:spPr>
          <a:xfrm rot="0">
            <a:off x="4580077" y="7815043"/>
            <a:ext cx="3811600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Established Kollam presence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8640689" y="7597454"/>
            <a:ext cx="4338218" cy="1043807"/>
            <a:chOff x="0" y="0"/>
            <a:chExt cx="5784291" cy="139174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784342" cy="1391793"/>
            </a:xfrm>
            <a:custGeom>
              <a:avLst/>
              <a:gdLst/>
              <a:ahLst/>
              <a:cxnLst/>
              <a:rect r="r" b="b" t="t" l="l"/>
              <a:pathLst>
                <a:path h="1391793" w="5784342">
                  <a:moveTo>
                    <a:pt x="0" y="0"/>
                  </a:moveTo>
                  <a:lnTo>
                    <a:pt x="5784342" y="0"/>
                  </a:lnTo>
                  <a:lnTo>
                    <a:pt x="5784342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74" id="74"/>
          <p:cNvSpPr txBox="true"/>
          <p:nvPr/>
        </p:nvSpPr>
        <p:spPr>
          <a:xfrm rot="0">
            <a:off x="8903999" y="7815043"/>
            <a:ext cx="3811600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Strong performance-marketing proposition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2964601" y="7597454"/>
            <a:ext cx="4887287" cy="1043807"/>
            <a:chOff x="0" y="0"/>
            <a:chExt cx="6516383" cy="139174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516370" cy="1391793"/>
            </a:xfrm>
            <a:custGeom>
              <a:avLst/>
              <a:gdLst/>
              <a:ahLst/>
              <a:cxnLst/>
              <a:rect r="r" b="b" t="t" l="l"/>
              <a:pathLst>
                <a:path h="1391793" w="6516370">
                  <a:moveTo>
                    <a:pt x="0" y="0"/>
                  </a:moveTo>
                  <a:lnTo>
                    <a:pt x="6516370" y="0"/>
                  </a:lnTo>
                  <a:lnTo>
                    <a:pt x="6516370" y="1391793"/>
                  </a:lnTo>
                  <a:lnTo>
                    <a:pt x="0" y="1391793"/>
                  </a:ln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77" id="77"/>
          <p:cNvSpPr txBox="true"/>
          <p:nvPr/>
        </p:nvSpPr>
        <p:spPr>
          <a:xfrm rot="0">
            <a:off x="13227910" y="7815043"/>
            <a:ext cx="4360669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Kollam agency ecosystem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24861" y="8898441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Strategic takeaway: competitors increasingly lead with AI, agency experience, live projects and explicit career outcomes. IPCS should make these benefits visible and Kollam-specific.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24861" y="9809626"/>
            <a:ext cx="16151924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IPCS GLOBAL KOLLAM  •  MARKET ANALYSIS  |  04</a:t>
            </a:r>
          </a:p>
        </p:txBody>
      </p:sp>
      <p:sp>
        <p:nvSpPr>
          <p:cNvPr name="Freeform 80" id="80"/>
          <p:cNvSpPr/>
          <p:nvPr/>
        </p:nvSpPr>
        <p:spPr>
          <a:xfrm flipH="false" flipV="false" rot="0">
            <a:off x="16073592" y="-198161"/>
            <a:ext cx="2371417" cy="1438659"/>
          </a:xfrm>
          <a:custGeom>
            <a:avLst/>
            <a:gdLst/>
            <a:ahLst/>
            <a:cxnLst/>
            <a:rect r="r" b="b" t="t" l="l"/>
            <a:pathLst>
              <a:path h="1438659" w="2371417">
                <a:moveTo>
                  <a:pt x="0" y="0"/>
                </a:moveTo>
                <a:lnTo>
                  <a:pt x="2371416" y="0"/>
                </a:lnTo>
                <a:lnTo>
                  <a:pt x="2371416" y="1438659"/>
                </a:lnTo>
                <a:lnTo>
                  <a:pt x="0" y="1438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D3A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672951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04  |  Keyword Research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1126" y="1459573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Keyword clusters to target in organic search and content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3719" y="1983229"/>
            <a:ext cx="5230454" cy="2965542"/>
            <a:chOff x="0" y="0"/>
            <a:chExt cx="6973938" cy="3954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73951" cy="3954018"/>
            </a:xfrm>
            <a:custGeom>
              <a:avLst/>
              <a:gdLst/>
              <a:ahLst/>
              <a:cxnLst/>
              <a:rect r="r" b="b" t="t" l="l"/>
              <a:pathLst>
                <a:path h="3954018" w="6973951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6314948" y="0"/>
                  </a:lnTo>
                  <a:cubicBezTo>
                    <a:pt x="6678930" y="0"/>
                    <a:pt x="6973951" y="295021"/>
                    <a:pt x="6973951" y="659003"/>
                  </a:cubicBezTo>
                  <a:lnTo>
                    <a:pt x="6973951" y="3295015"/>
                  </a:lnTo>
                  <a:cubicBezTo>
                    <a:pt x="6973951" y="3658997"/>
                    <a:pt x="6678930" y="3954018"/>
                    <a:pt x="6314948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54293" y="2255720"/>
            <a:ext cx="44292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High-Intent / Primary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4293" y="2859700"/>
            <a:ext cx="4429296" cy="187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digital marketing course in Kollam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digital marketing institute in Kollam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digital marketing training Kollam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best digital marketing institute Kollam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54229" y="1983229"/>
            <a:ext cx="5230454" cy="2965542"/>
            <a:chOff x="0" y="0"/>
            <a:chExt cx="6973938" cy="39540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73951" cy="3954018"/>
            </a:xfrm>
            <a:custGeom>
              <a:avLst/>
              <a:gdLst/>
              <a:ahLst/>
              <a:cxnLst/>
              <a:rect r="r" b="b" t="t" l="l"/>
              <a:pathLst>
                <a:path h="3954018" w="6973951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6314948" y="0"/>
                  </a:lnTo>
                  <a:cubicBezTo>
                    <a:pt x="6678930" y="0"/>
                    <a:pt x="6973951" y="295021"/>
                    <a:pt x="6973951" y="659003"/>
                  </a:cubicBezTo>
                  <a:lnTo>
                    <a:pt x="6973951" y="3295015"/>
                  </a:lnTo>
                  <a:cubicBezTo>
                    <a:pt x="6973951" y="3658997"/>
                    <a:pt x="6678930" y="3954018"/>
                    <a:pt x="6314948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954803" y="2255720"/>
            <a:ext cx="44292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Service Keywords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4803" y="2859700"/>
            <a:ext cx="4429296" cy="187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SEO course Kollam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social media marketing course Kollam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Google Ads course Kollam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digital marketing certification Kollam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AI digital marketing course Kollam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154729" y="1983229"/>
            <a:ext cx="5161817" cy="2965542"/>
            <a:chOff x="0" y="0"/>
            <a:chExt cx="6882422" cy="39540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82384" cy="3954018"/>
            </a:xfrm>
            <a:custGeom>
              <a:avLst/>
              <a:gdLst/>
              <a:ahLst/>
              <a:cxnLst/>
              <a:rect r="r" b="b" t="t" l="l"/>
              <a:pathLst>
                <a:path h="3954018" w="6882384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6223381" y="0"/>
                  </a:lnTo>
                  <a:cubicBezTo>
                    <a:pt x="6587363" y="0"/>
                    <a:pt x="6882384" y="295021"/>
                    <a:pt x="6882384" y="659003"/>
                  </a:cubicBezTo>
                  <a:lnTo>
                    <a:pt x="6882384" y="3295015"/>
                  </a:lnTo>
                  <a:cubicBezTo>
                    <a:pt x="6882384" y="3658997"/>
                    <a:pt x="6587363" y="3954018"/>
                    <a:pt x="6223381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555303" y="2255720"/>
            <a:ext cx="436066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BE48"/>
                </a:solidFill>
                <a:latin typeface="Aptos Bold"/>
                <a:ea typeface="Aptos Bold"/>
                <a:cs typeface="Aptos Bold"/>
                <a:sym typeface="Aptos Bold"/>
              </a:rPr>
              <a:t>Long-Tail / Conversion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55303" y="2859700"/>
            <a:ext cx="4360669" cy="187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digital marketing course with placement Kollam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course for students in Kollam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AI integrated digital marketing course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job oriented digital marketing course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3719" y="5346278"/>
            <a:ext cx="7975797" cy="2553738"/>
            <a:chOff x="0" y="0"/>
            <a:chExt cx="10634396" cy="34049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34472" cy="3404997"/>
            </a:xfrm>
            <a:custGeom>
              <a:avLst/>
              <a:gdLst/>
              <a:ahLst/>
              <a:cxnLst/>
              <a:rect r="r" b="b" t="t" l="l"/>
              <a:pathLst>
                <a:path h="3404997" w="10634472">
                  <a:moveTo>
                    <a:pt x="0" y="567563"/>
                  </a:moveTo>
                  <a:cubicBezTo>
                    <a:pt x="0" y="254127"/>
                    <a:pt x="254127" y="0"/>
                    <a:pt x="567563" y="0"/>
                  </a:cubicBezTo>
                  <a:lnTo>
                    <a:pt x="10066909" y="0"/>
                  </a:lnTo>
                  <a:cubicBezTo>
                    <a:pt x="10380345" y="0"/>
                    <a:pt x="10634472" y="254127"/>
                    <a:pt x="10634472" y="567563"/>
                  </a:cubicBezTo>
                  <a:lnTo>
                    <a:pt x="10634472" y="2837434"/>
                  </a:lnTo>
                  <a:cubicBezTo>
                    <a:pt x="10634472" y="3150870"/>
                    <a:pt x="10380345" y="3404997"/>
                    <a:pt x="10066909" y="3404997"/>
                  </a:cubicBezTo>
                  <a:lnTo>
                    <a:pt x="567563" y="3404997"/>
                  </a:lnTo>
                  <a:cubicBezTo>
                    <a:pt x="254127" y="3404997"/>
                    <a:pt x="0" y="3150870"/>
                    <a:pt x="0" y="2837434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54293" y="5618769"/>
            <a:ext cx="717464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Content Keyword Themes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4293" y="6213224"/>
            <a:ext cx="7174640" cy="146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Careers after BCom / graduation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How to become a digital marketer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SEO vs Google Ads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AI tools for marketers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Digital marketing salary / roles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58386" y="5346278"/>
            <a:ext cx="8044434" cy="2553738"/>
            <a:chOff x="0" y="0"/>
            <a:chExt cx="10725912" cy="34049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25912" cy="3404997"/>
            </a:xfrm>
            <a:custGeom>
              <a:avLst/>
              <a:gdLst/>
              <a:ahLst/>
              <a:cxnLst/>
              <a:rect r="r" b="b" t="t" l="l"/>
              <a:pathLst>
                <a:path h="3404997" w="10725912">
                  <a:moveTo>
                    <a:pt x="0" y="567563"/>
                  </a:moveTo>
                  <a:cubicBezTo>
                    <a:pt x="0" y="254127"/>
                    <a:pt x="254127" y="0"/>
                    <a:pt x="567563" y="0"/>
                  </a:cubicBezTo>
                  <a:lnTo>
                    <a:pt x="10158349" y="0"/>
                  </a:lnTo>
                  <a:cubicBezTo>
                    <a:pt x="10471785" y="0"/>
                    <a:pt x="10725912" y="254127"/>
                    <a:pt x="10725912" y="567563"/>
                  </a:cubicBezTo>
                  <a:lnTo>
                    <a:pt x="10725912" y="2837434"/>
                  </a:lnTo>
                  <a:cubicBezTo>
                    <a:pt x="10725912" y="3150870"/>
                    <a:pt x="10471785" y="3404997"/>
                    <a:pt x="10158349" y="3404997"/>
                  </a:cubicBezTo>
                  <a:lnTo>
                    <a:pt x="567563" y="3404997"/>
                  </a:lnTo>
                  <a:cubicBezTo>
                    <a:pt x="254127" y="3404997"/>
                    <a:pt x="0" y="3150870"/>
                    <a:pt x="0" y="2837434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658969" y="5618769"/>
            <a:ext cx="724327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Measurement Plan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58969" y="6213224"/>
            <a:ext cx="7243277" cy="146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Track impressions, clicks, CTR, average position and conversions in Google Search Console. Use Keyword Planner/Trends for demand and competition before assigning numerical targets.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4861" y="9809626"/>
            <a:ext cx="16151924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IPCS GLOBAL KOLLAM  •  MARKET ANALYSIS  |  05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073592" y="-198161"/>
            <a:ext cx="2371417" cy="1438659"/>
          </a:xfrm>
          <a:custGeom>
            <a:avLst/>
            <a:gdLst/>
            <a:ahLst/>
            <a:cxnLst/>
            <a:rect r="r" b="b" t="t" l="l"/>
            <a:pathLst>
              <a:path h="1438659" w="2371417">
                <a:moveTo>
                  <a:pt x="0" y="0"/>
                </a:moveTo>
                <a:lnTo>
                  <a:pt x="2371416" y="0"/>
                </a:lnTo>
                <a:lnTo>
                  <a:pt x="2371416" y="1438659"/>
                </a:lnTo>
                <a:lnTo>
                  <a:pt x="0" y="1438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D3A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672951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05  |  Website Audit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1126" y="1459573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Qualitative audit of the public Kollam landing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3719" y="1983229"/>
            <a:ext cx="7769895" cy="1730140"/>
            <a:chOff x="0" y="0"/>
            <a:chExt cx="10359860" cy="23068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59772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359772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9975342" y="0"/>
                  </a:lnTo>
                  <a:cubicBezTo>
                    <a:pt x="10187686" y="0"/>
                    <a:pt x="10359772" y="172085"/>
                    <a:pt x="10359772" y="384429"/>
                  </a:cubicBezTo>
                  <a:lnTo>
                    <a:pt x="10359772" y="1922399"/>
                  </a:lnTo>
                  <a:cubicBezTo>
                    <a:pt x="10359772" y="2134743"/>
                    <a:pt x="10187686" y="2306828"/>
                    <a:pt x="9975342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54293" y="2255720"/>
            <a:ext cx="696874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Content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4293" y="2859700"/>
            <a:ext cx="6968747" cy="63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Strong course depth and clear learning areas.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35234" y="2273656"/>
            <a:ext cx="846620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GOOD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89758" y="1983229"/>
            <a:ext cx="7769895" cy="1730140"/>
            <a:chOff x="0" y="0"/>
            <a:chExt cx="10359860" cy="23068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59772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359772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9975342" y="0"/>
                  </a:lnTo>
                  <a:cubicBezTo>
                    <a:pt x="10187686" y="0"/>
                    <a:pt x="10359772" y="172085"/>
                    <a:pt x="10359772" y="384429"/>
                  </a:cubicBezTo>
                  <a:lnTo>
                    <a:pt x="10359772" y="1922399"/>
                  </a:lnTo>
                  <a:cubicBezTo>
                    <a:pt x="10359772" y="2134743"/>
                    <a:pt x="10187686" y="2306828"/>
                    <a:pt x="9975342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590332" y="2255720"/>
            <a:ext cx="696874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Conversion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90332" y="2859700"/>
            <a:ext cx="6968747" cy="63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Enquiry form + contact/WhatsApp route are present.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71273" y="2273656"/>
            <a:ext cx="846620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GOOD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3719" y="4110866"/>
            <a:ext cx="7769895" cy="1730140"/>
            <a:chOff x="0" y="0"/>
            <a:chExt cx="10359860" cy="23068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59772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359772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9975342" y="0"/>
                  </a:lnTo>
                  <a:cubicBezTo>
                    <a:pt x="10187686" y="0"/>
                    <a:pt x="10359772" y="172085"/>
                    <a:pt x="10359772" y="384429"/>
                  </a:cubicBezTo>
                  <a:lnTo>
                    <a:pt x="10359772" y="1922399"/>
                  </a:lnTo>
                  <a:cubicBezTo>
                    <a:pt x="10359772" y="2134743"/>
                    <a:pt x="10187686" y="2306828"/>
                    <a:pt x="9975342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354293" y="4383367"/>
            <a:ext cx="696874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Local SEO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4293" y="4987338"/>
            <a:ext cx="6968747" cy="63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Kollam, Chinnakada and branch address are clearly stated.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35234" y="4401293"/>
            <a:ext cx="846620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GOOD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89758" y="4110866"/>
            <a:ext cx="7769895" cy="1730140"/>
            <a:chOff x="0" y="0"/>
            <a:chExt cx="10359860" cy="23068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59772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359772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9975342" y="0"/>
                  </a:lnTo>
                  <a:cubicBezTo>
                    <a:pt x="10187686" y="0"/>
                    <a:pt x="10359772" y="172085"/>
                    <a:pt x="10359772" y="384429"/>
                  </a:cubicBezTo>
                  <a:lnTo>
                    <a:pt x="10359772" y="1922399"/>
                  </a:lnTo>
                  <a:cubicBezTo>
                    <a:pt x="10359772" y="2134743"/>
                    <a:pt x="10187686" y="2306828"/>
                    <a:pt x="9975342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590332" y="4383367"/>
            <a:ext cx="696874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BE48"/>
                </a:solidFill>
                <a:latin typeface="Aptos Bold"/>
                <a:ea typeface="Aptos Bold"/>
                <a:cs typeface="Aptos Bold"/>
                <a:sym typeface="Aptos Bold"/>
              </a:rPr>
              <a:t>Differentiation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90332" y="4987338"/>
            <a:ext cx="6968747" cy="63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Local proof and student outcomes can be more prominent.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671273" y="4401293"/>
            <a:ext cx="846620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 b="true">
                <a:solidFill>
                  <a:srgbClr val="F5BE48"/>
                </a:solidFill>
                <a:latin typeface="Aptos Bold"/>
                <a:ea typeface="Aptos Bold"/>
                <a:cs typeface="Aptos Bold"/>
                <a:sym typeface="Aptos Bold"/>
              </a:rPr>
              <a:t>IMPROVE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53719" y="6238513"/>
            <a:ext cx="7769895" cy="1730140"/>
            <a:chOff x="0" y="0"/>
            <a:chExt cx="10359860" cy="230685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59772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359772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9975342" y="0"/>
                  </a:lnTo>
                  <a:cubicBezTo>
                    <a:pt x="10187686" y="0"/>
                    <a:pt x="10359772" y="172085"/>
                    <a:pt x="10359772" y="384429"/>
                  </a:cubicBezTo>
                  <a:lnTo>
                    <a:pt x="10359772" y="1922399"/>
                  </a:lnTo>
                  <a:cubicBezTo>
                    <a:pt x="10359772" y="2134743"/>
                    <a:pt x="10187686" y="2306828"/>
                    <a:pt x="9975342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354293" y="6511004"/>
            <a:ext cx="696874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BE48"/>
                </a:solidFill>
                <a:latin typeface="Aptos Bold"/>
                <a:ea typeface="Aptos Bold"/>
                <a:cs typeface="Aptos Bold"/>
                <a:sym typeface="Aptos Bold"/>
              </a:rPr>
              <a:t>UX / Trust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4293" y="7114984"/>
            <a:ext cx="6968747" cy="63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Add stronger above-the-fold proof: reviews, projects, trainer credentials, outcomes.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35234" y="6528940"/>
            <a:ext cx="846620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 b="true">
                <a:solidFill>
                  <a:srgbClr val="F5BE48"/>
                </a:solidFill>
                <a:latin typeface="Aptos Bold"/>
                <a:ea typeface="Aptos Bold"/>
                <a:cs typeface="Aptos Bold"/>
                <a:sym typeface="Aptos Bold"/>
              </a:rPr>
              <a:t>IMPROVE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89758" y="6238513"/>
            <a:ext cx="7769895" cy="1730140"/>
            <a:chOff x="0" y="0"/>
            <a:chExt cx="10359860" cy="230685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359772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359772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9975342" y="0"/>
                  </a:lnTo>
                  <a:cubicBezTo>
                    <a:pt x="10187686" y="0"/>
                    <a:pt x="10359772" y="172085"/>
                    <a:pt x="10359772" y="384429"/>
                  </a:cubicBezTo>
                  <a:lnTo>
                    <a:pt x="10359772" y="1922399"/>
                  </a:lnTo>
                  <a:cubicBezTo>
                    <a:pt x="10359772" y="2134743"/>
                    <a:pt x="10187686" y="2306828"/>
                    <a:pt x="9975342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9590332" y="6511004"/>
            <a:ext cx="696874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Performance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90332" y="7114984"/>
            <a:ext cx="6968747" cy="63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Run PageSpeed/Core Web Vitals and mobile checks before reporting scores.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671273" y="6528940"/>
            <a:ext cx="846620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TEST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89577" y="8899455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Audit note: no invented speed/technical scores are included. Add your own PageSpeed Insights and mobile screenshots to validate technical findings.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4861" y="9809626"/>
            <a:ext cx="16151924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IPCS GLOBAL KOLLAM  •  MARKET ANALYSIS  |  06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6073592" y="-198161"/>
            <a:ext cx="2371417" cy="1438659"/>
          </a:xfrm>
          <a:custGeom>
            <a:avLst/>
            <a:gdLst/>
            <a:ahLst/>
            <a:cxnLst/>
            <a:rect r="r" b="b" t="t" l="l"/>
            <a:pathLst>
              <a:path h="1438659" w="2371417">
                <a:moveTo>
                  <a:pt x="0" y="0"/>
                </a:moveTo>
                <a:lnTo>
                  <a:pt x="2371416" y="0"/>
                </a:lnTo>
                <a:lnTo>
                  <a:pt x="2371416" y="1438659"/>
                </a:lnTo>
                <a:lnTo>
                  <a:pt x="0" y="1438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D3A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672951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06  |  SEO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1126" y="1459573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Priorities for stronger local search visibility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3719" y="1983229"/>
            <a:ext cx="5230454" cy="2759640"/>
            <a:chOff x="0" y="0"/>
            <a:chExt cx="6973938" cy="3679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73951" cy="3679571"/>
            </a:xfrm>
            <a:custGeom>
              <a:avLst/>
              <a:gdLst/>
              <a:ahLst/>
              <a:cxnLst/>
              <a:rect r="r" b="b" t="t" l="l"/>
              <a:pathLst>
                <a:path h="3679571" w="697395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360668" y="0"/>
                  </a:lnTo>
                  <a:cubicBezTo>
                    <a:pt x="6699377" y="0"/>
                    <a:pt x="6973951" y="274574"/>
                    <a:pt x="6973951" y="613283"/>
                  </a:cubicBezTo>
                  <a:lnTo>
                    <a:pt x="6973951" y="3066288"/>
                  </a:lnTo>
                  <a:cubicBezTo>
                    <a:pt x="6973951" y="3404997"/>
                    <a:pt x="6699377" y="3679571"/>
                    <a:pt x="6360668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54293" y="2255720"/>
            <a:ext cx="44292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On-Page SEO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4293" y="2859700"/>
            <a:ext cx="4429296" cy="166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Use one clear primary keyword per landing page.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Strengthen title/H1/meta copy around Kollam intent.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Add FAQ content targeting long-tail searches.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54229" y="1983229"/>
            <a:ext cx="5230454" cy="2759640"/>
            <a:chOff x="0" y="0"/>
            <a:chExt cx="6973938" cy="3679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73951" cy="3679571"/>
            </a:xfrm>
            <a:custGeom>
              <a:avLst/>
              <a:gdLst/>
              <a:ahLst/>
              <a:cxnLst/>
              <a:rect r="r" b="b" t="t" l="l"/>
              <a:pathLst>
                <a:path h="3679571" w="697395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360668" y="0"/>
                  </a:lnTo>
                  <a:cubicBezTo>
                    <a:pt x="6699377" y="0"/>
                    <a:pt x="6973951" y="274574"/>
                    <a:pt x="6973951" y="613283"/>
                  </a:cubicBezTo>
                  <a:lnTo>
                    <a:pt x="6973951" y="3066288"/>
                  </a:lnTo>
                  <a:cubicBezTo>
                    <a:pt x="6973951" y="3404997"/>
                    <a:pt x="6699377" y="3679571"/>
                    <a:pt x="6360668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954803" y="2255720"/>
            <a:ext cx="44292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Local SEO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4803" y="2859700"/>
            <a:ext cx="4429296" cy="166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Fully optimize Google Business Profile.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Consistent NAP information.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Collect genuine student reviews.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Publish Kollam-specific updates.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154729" y="1983229"/>
            <a:ext cx="5161817" cy="2759640"/>
            <a:chOff x="0" y="0"/>
            <a:chExt cx="6882422" cy="3679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555303" y="2255720"/>
            <a:ext cx="436066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BE48"/>
                </a:solidFill>
                <a:latin typeface="Aptos Bold"/>
                <a:ea typeface="Aptos Bold"/>
                <a:cs typeface="Aptos Bold"/>
                <a:sym typeface="Aptos Bold"/>
              </a:rPr>
              <a:t>Technical SEO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55303" y="2859700"/>
            <a:ext cx="4360669" cy="166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Check Core Web Vitals, indexability, sitemap, robots.txt, canonical tags, image alt text and structured data.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3719" y="5277641"/>
            <a:ext cx="7975797" cy="2622375"/>
            <a:chOff x="0" y="0"/>
            <a:chExt cx="10634396" cy="3496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34472" cy="3496564"/>
            </a:xfrm>
            <a:custGeom>
              <a:avLst/>
              <a:gdLst/>
              <a:ahLst/>
              <a:cxnLst/>
              <a:rect r="r" b="b" t="t" l="l"/>
              <a:pathLst>
                <a:path h="3496564" w="10634472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10051669" y="0"/>
                  </a:lnTo>
                  <a:cubicBezTo>
                    <a:pt x="10373487" y="0"/>
                    <a:pt x="10634472" y="260858"/>
                    <a:pt x="10634472" y="582803"/>
                  </a:cubicBezTo>
                  <a:lnTo>
                    <a:pt x="10634472" y="2913761"/>
                  </a:lnTo>
                  <a:cubicBezTo>
                    <a:pt x="10634472" y="3235579"/>
                    <a:pt x="10373613" y="3496564"/>
                    <a:pt x="10051669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54293" y="5550132"/>
            <a:ext cx="717464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Content SEO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4293" y="6144587"/>
            <a:ext cx="7174640" cy="153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Create supporting articles around careers, course comparisons, AI tools, SEO, social media and student projects. Internally link every article to the main Kollam course page.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58386" y="5277641"/>
            <a:ext cx="8044434" cy="2622375"/>
            <a:chOff x="0" y="0"/>
            <a:chExt cx="10725912" cy="3496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25912" cy="3496564"/>
            </a:xfrm>
            <a:custGeom>
              <a:avLst/>
              <a:gdLst/>
              <a:ahLst/>
              <a:cxnLst/>
              <a:rect r="r" b="b" t="t" l="l"/>
              <a:pathLst>
                <a:path h="3496564" w="10725912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10143109" y="0"/>
                  </a:lnTo>
                  <a:cubicBezTo>
                    <a:pt x="10464927" y="0"/>
                    <a:pt x="10725912" y="260858"/>
                    <a:pt x="10725912" y="582803"/>
                  </a:cubicBezTo>
                  <a:lnTo>
                    <a:pt x="10725912" y="2913761"/>
                  </a:lnTo>
                  <a:cubicBezTo>
                    <a:pt x="10725912" y="3235579"/>
                    <a:pt x="10465053" y="3496564"/>
                    <a:pt x="10143109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658969" y="5550132"/>
            <a:ext cx="724327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Priority Keywords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58969" y="6144587"/>
            <a:ext cx="7243277" cy="153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1. digital marketing course in Kollam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2. digital marketing institute in Kollam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3. digital marketing training Kollam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4. AI digital marketing course Kollam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5. digital marketing course with placement Kollam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4861" y="9809626"/>
            <a:ext cx="16151924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IPCS GLOBAL KOLLAM  •  MARKET ANALYSIS  |  07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073592" y="-198161"/>
            <a:ext cx="2371417" cy="1438659"/>
          </a:xfrm>
          <a:custGeom>
            <a:avLst/>
            <a:gdLst/>
            <a:ahLst/>
            <a:cxnLst/>
            <a:rect r="r" b="b" t="t" l="l"/>
            <a:pathLst>
              <a:path h="1438659" w="2371417">
                <a:moveTo>
                  <a:pt x="0" y="0"/>
                </a:moveTo>
                <a:lnTo>
                  <a:pt x="2371416" y="0"/>
                </a:lnTo>
                <a:lnTo>
                  <a:pt x="2371416" y="1438659"/>
                </a:lnTo>
                <a:lnTo>
                  <a:pt x="0" y="1438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D3A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672951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07  |  Social Media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1126" y="1459573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Recommended audit framework and content direction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3719" y="1983229"/>
            <a:ext cx="5230454" cy="2906616"/>
            <a:chOff x="0" y="0"/>
            <a:chExt cx="6973938" cy="38754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73951" cy="3875539"/>
            </a:xfrm>
            <a:custGeom>
              <a:avLst/>
              <a:gdLst/>
              <a:ahLst/>
              <a:cxnLst/>
              <a:rect r="r" b="b" t="t" l="l"/>
              <a:pathLst>
                <a:path h="3875539" w="6973951">
                  <a:moveTo>
                    <a:pt x="0" y="645946"/>
                  </a:moveTo>
                  <a:cubicBezTo>
                    <a:pt x="0" y="289198"/>
                    <a:pt x="274574" y="0"/>
                    <a:pt x="613283" y="0"/>
                  </a:cubicBezTo>
                  <a:lnTo>
                    <a:pt x="6360668" y="0"/>
                  </a:lnTo>
                  <a:cubicBezTo>
                    <a:pt x="6699377" y="0"/>
                    <a:pt x="6973951" y="289198"/>
                    <a:pt x="6973951" y="645946"/>
                  </a:cubicBezTo>
                  <a:lnTo>
                    <a:pt x="6973951" y="3229596"/>
                  </a:lnTo>
                  <a:cubicBezTo>
                    <a:pt x="6973951" y="3586344"/>
                    <a:pt x="6699377" y="3875539"/>
                    <a:pt x="6360668" y="3875539"/>
                  </a:cubicBezTo>
                  <a:lnTo>
                    <a:pt x="613283" y="3875539"/>
                  </a:lnTo>
                  <a:cubicBezTo>
                    <a:pt x="274574" y="3875539"/>
                    <a:pt x="0" y="3586344"/>
                    <a:pt x="0" y="3229596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54293" y="2255720"/>
            <a:ext cx="44292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What to Audit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4293" y="2850175"/>
            <a:ext cx="4429296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Instagram: followers, reach, views, saves, shares, comments, profile visits.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Facebook: reach + community proof.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YouTube: views, retention, searchability.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54229" y="1983229"/>
            <a:ext cx="5230454" cy="2759640"/>
            <a:chOff x="0" y="0"/>
            <a:chExt cx="6973938" cy="3679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73951" cy="3679571"/>
            </a:xfrm>
            <a:custGeom>
              <a:avLst/>
              <a:gdLst/>
              <a:ahLst/>
              <a:cxnLst/>
              <a:rect r="r" b="b" t="t" l="l"/>
              <a:pathLst>
                <a:path h="3679571" w="697395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360668" y="0"/>
                  </a:lnTo>
                  <a:cubicBezTo>
                    <a:pt x="6699377" y="0"/>
                    <a:pt x="6973951" y="274574"/>
                    <a:pt x="6973951" y="613283"/>
                  </a:cubicBezTo>
                  <a:lnTo>
                    <a:pt x="6973951" y="3066288"/>
                  </a:lnTo>
                  <a:cubicBezTo>
                    <a:pt x="6973951" y="3404997"/>
                    <a:pt x="6699377" y="3679571"/>
                    <a:pt x="6360668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954803" y="2255720"/>
            <a:ext cx="44292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Content Mix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4803" y="2850175"/>
            <a:ext cx="4429296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Reels • student stories • classroom clips • trainer tips • AI tutorials • project showcases • placement updates • FAQs.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154729" y="1983229"/>
            <a:ext cx="5161817" cy="2759640"/>
            <a:chOff x="0" y="0"/>
            <a:chExt cx="6882422" cy="3679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555303" y="2255720"/>
            <a:ext cx="436066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BE48"/>
                </a:solidFill>
                <a:latin typeface="Aptos Bold"/>
                <a:ea typeface="Aptos Bold"/>
                <a:cs typeface="Aptos Bold"/>
                <a:sym typeface="Aptos Bold"/>
              </a:rPr>
              <a:t>Gap to Exploit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55303" y="2850175"/>
            <a:ext cx="4360669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Make content feel local and human. Show real faces, real projects and real learning rather than relying mainly on promotional posters.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3719" y="5277641"/>
            <a:ext cx="7975797" cy="3326547"/>
            <a:chOff x="0" y="0"/>
            <a:chExt cx="10634396" cy="44353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34472" cy="4435447"/>
            </a:xfrm>
            <a:custGeom>
              <a:avLst/>
              <a:gdLst/>
              <a:ahLst/>
              <a:cxnLst/>
              <a:rect r="r" b="b" t="t" l="l"/>
              <a:pathLst>
                <a:path h="4435447" w="10634472">
                  <a:moveTo>
                    <a:pt x="0" y="739268"/>
                  </a:moveTo>
                  <a:cubicBezTo>
                    <a:pt x="0" y="330979"/>
                    <a:pt x="274574" y="0"/>
                    <a:pt x="613283" y="0"/>
                  </a:cubicBezTo>
                  <a:lnTo>
                    <a:pt x="10021189" y="0"/>
                  </a:lnTo>
                  <a:cubicBezTo>
                    <a:pt x="10359898" y="0"/>
                    <a:pt x="10634472" y="330979"/>
                    <a:pt x="10634472" y="739268"/>
                  </a:cubicBezTo>
                  <a:lnTo>
                    <a:pt x="10634472" y="3696189"/>
                  </a:lnTo>
                  <a:cubicBezTo>
                    <a:pt x="10634472" y="4104479"/>
                    <a:pt x="10359898" y="4435447"/>
                    <a:pt x="10021189" y="4435447"/>
                  </a:cubicBezTo>
                  <a:lnTo>
                    <a:pt x="613283" y="4435447"/>
                  </a:lnTo>
                  <a:cubicBezTo>
                    <a:pt x="274574" y="4435447"/>
                    <a:pt x="0" y="4104478"/>
                    <a:pt x="0" y="3696189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54293" y="5550132"/>
            <a:ext cx="717464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Suggested Weekly Rhythm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4293" y="6144587"/>
            <a:ext cx="7174640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Mon — Career tip Reel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Tue — Student/project story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Wed — AI tool tutorial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Thu — Trainer/FAQ Reel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Fri — Classroom BTS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Sat — Course/CTA post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Sun — Community/testimonial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58386" y="5277641"/>
            <a:ext cx="8044434" cy="2759640"/>
            <a:chOff x="0" y="0"/>
            <a:chExt cx="10725912" cy="3679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25912" cy="3679571"/>
            </a:xfrm>
            <a:custGeom>
              <a:avLst/>
              <a:gdLst/>
              <a:ahLst/>
              <a:cxnLst/>
              <a:rect r="r" b="b" t="t" l="l"/>
              <a:pathLst>
                <a:path h="3679571" w="10725912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10112629" y="0"/>
                  </a:lnTo>
                  <a:cubicBezTo>
                    <a:pt x="10451338" y="0"/>
                    <a:pt x="10725912" y="274574"/>
                    <a:pt x="10725912" y="613283"/>
                  </a:cubicBezTo>
                  <a:lnTo>
                    <a:pt x="10725912" y="3066288"/>
                  </a:lnTo>
                  <a:cubicBezTo>
                    <a:pt x="10725912" y="3404997"/>
                    <a:pt x="10451338" y="3679571"/>
                    <a:pt x="10112629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658969" y="5550132"/>
            <a:ext cx="724327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KPIs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58969" y="6144587"/>
            <a:ext cx="7243277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Reach → profile visits → WhatsApp/enquiry clicks → counselling/demo registrations → admissions. Track saves and shares as quality indicators for educational content.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4861" y="9809626"/>
            <a:ext cx="16151924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IPCS GLOBAL KOLLAM  •  MARKET ANALYSIS  |  08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073592" y="-198161"/>
            <a:ext cx="2371417" cy="1438659"/>
          </a:xfrm>
          <a:custGeom>
            <a:avLst/>
            <a:gdLst/>
            <a:ahLst/>
            <a:cxnLst/>
            <a:rect r="r" b="b" t="t" l="l"/>
            <a:pathLst>
              <a:path h="1438659" w="2371417">
                <a:moveTo>
                  <a:pt x="0" y="0"/>
                </a:moveTo>
                <a:lnTo>
                  <a:pt x="2371416" y="0"/>
                </a:lnTo>
                <a:lnTo>
                  <a:pt x="2371416" y="1438659"/>
                </a:lnTo>
                <a:lnTo>
                  <a:pt x="0" y="1438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D3A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672951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08  |  Branding &amp; Content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1126" y="1459573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Build a clearer reason to choose IPCS Kollam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3719" y="1983229"/>
            <a:ext cx="5230454" cy="2759640"/>
            <a:chOff x="0" y="0"/>
            <a:chExt cx="6973938" cy="3679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73951" cy="3679571"/>
            </a:xfrm>
            <a:custGeom>
              <a:avLst/>
              <a:gdLst/>
              <a:ahLst/>
              <a:cxnLst/>
              <a:rect r="r" b="b" t="t" l="l"/>
              <a:pathLst>
                <a:path h="3679571" w="697395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360668" y="0"/>
                  </a:lnTo>
                  <a:cubicBezTo>
                    <a:pt x="6699377" y="0"/>
                    <a:pt x="6973951" y="274574"/>
                    <a:pt x="6973951" y="613283"/>
                  </a:cubicBezTo>
                  <a:lnTo>
                    <a:pt x="6973951" y="3066288"/>
                  </a:lnTo>
                  <a:cubicBezTo>
                    <a:pt x="6973951" y="3404997"/>
                    <a:pt x="6699377" y="3679571"/>
                    <a:pt x="6360668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54293" y="2255720"/>
            <a:ext cx="44292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Brand Strengths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4293" y="2850175"/>
            <a:ext cx="4429296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Established name • broad course portfolio • industry orientation • certifications • practical exposure.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54229" y="1983229"/>
            <a:ext cx="5230454" cy="2759640"/>
            <a:chOff x="0" y="0"/>
            <a:chExt cx="6973938" cy="3679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73951" cy="3679571"/>
            </a:xfrm>
            <a:custGeom>
              <a:avLst/>
              <a:gdLst/>
              <a:ahLst/>
              <a:cxnLst/>
              <a:rect r="r" b="b" t="t" l="l"/>
              <a:pathLst>
                <a:path h="3679571" w="697395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360668" y="0"/>
                  </a:lnTo>
                  <a:cubicBezTo>
                    <a:pt x="6699377" y="0"/>
                    <a:pt x="6973951" y="274574"/>
                    <a:pt x="6973951" y="613283"/>
                  </a:cubicBezTo>
                  <a:lnTo>
                    <a:pt x="6973951" y="3066288"/>
                  </a:lnTo>
                  <a:cubicBezTo>
                    <a:pt x="6973951" y="3404997"/>
                    <a:pt x="6699377" y="3679571"/>
                    <a:pt x="6360668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954803" y="2255720"/>
            <a:ext cx="44292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BE48"/>
                </a:solidFill>
                <a:latin typeface="Aptos Bold"/>
                <a:ea typeface="Aptos Bold"/>
                <a:cs typeface="Aptos Bold"/>
                <a:sym typeface="Aptos Bold"/>
              </a:rPr>
              <a:t>Brand Challenge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4803" y="2850175"/>
            <a:ext cx="4429296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The wider IPCS identity can overshadow the local branch. Kollam should have a recognizable content voice and proof system.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154729" y="1983229"/>
            <a:ext cx="5161817" cy="2759640"/>
            <a:chOff x="0" y="0"/>
            <a:chExt cx="6882422" cy="3679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555303" y="2255720"/>
            <a:ext cx="436066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Proposed Message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55303" y="2850175"/>
            <a:ext cx="4360669" cy="16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“Learn digital marketing by doing — with industry exposure, practical projects and career-focused support in Kollam.”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3719" y="5277641"/>
            <a:ext cx="7975797" cy="3047954"/>
            <a:chOff x="0" y="0"/>
            <a:chExt cx="10634396" cy="40639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34473" cy="4063924"/>
            </a:xfrm>
            <a:custGeom>
              <a:avLst/>
              <a:gdLst/>
              <a:ahLst/>
              <a:cxnLst/>
              <a:rect r="r" b="b" t="t" l="l"/>
              <a:pathLst>
                <a:path h="4063924" w="10634473">
                  <a:moveTo>
                    <a:pt x="0" y="677369"/>
                  </a:moveTo>
                  <a:cubicBezTo>
                    <a:pt x="0" y="303226"/>
                    <a:pt x="267716" y="0"/>
                    <a:pt x="598043" y="0"/>
                  </a:cubicBezTo>
                  <a:lnTo>
                    <a:pt x="10036429" y="0"/>
                  </a:lnTo>
                  <a:cubicBezTo>
                    <a:pt x="10366756" y="0"/>
                    <a:pt x="10634473" y="303226"/>
                    <a:pt x="10634473" y="677369"/>
                  </a:cubicBezTo>
                  <a:lnTo>
                    <a:pt x="10634473" y="3386555"/>
                  </a:lnTo>
                  <a:cubicBezTo>
                    <a:pt x="10634473" y="3760698"/>
                    <a:pt x="10366756" y="4063924"/>
                    <a:pt x="10036429" y="4063924"/>
                  </a:cubicBezTo>
                  <a:lnTo>
                    <a:pt x="598043" y="4063924"/>
                  </a:lnTo>
                  <a:cubicBezTo>
                    <a:pt x="267716" y="4063924"/>
                    <a:pt x="0" y="3760698"/>
                    <a:pt x="0" y="3386555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54293" y="5550132"/>
            <a:ext cx="717464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Content Pillars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4293" y="6144587"/>
            <a:ext cx="7174640" cy="160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01 Career &amp; skills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02 Student transformation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03 Real projects / portfolio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04 AI + tools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05 Trainer expertise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06 Local community / events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58386" y="5277641"/>
            <a:ext cx="8044434" cy="2691013"/>
            <a:chOff x="0" y="0"/>
            <a:chExt cx="10725912" cy="358801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25912" cy="3588004"/>
            </a:xfrm>
            <a:custGeom>
              <a:avLst/>
              <a:gdLst/>
              <a:ahLst/>
              <a:cxnLst/>
              <a:rect r="r" b="b" t="t" l="l"/>
              <a:pathLst>
                <a:path h="3588004" w="10725912">
                  <a:moveTo>
                    <a:pt x="0" y="598043"/>
                  </a:moveTo>
                  <a:cubicBezTo>
                    <a:pt x="0" y="267716"/>
                    <a:pt x="267716" y="0"/>
                    <a:pt x="598043" y="0"/>
                  </a:cubicBezTo>
                  <a:lnTo>
                    <a:pt x="10127869" y="0"/>
                  </a:lnTo>
                  <a:cubicBezTo>
                    <a:pt x="10458196" y="0"/>
                    <a:pt x="10725912" y="267716"/>
                    <a:pt x="10725912" y="598043"/>
                  </a:cubicBezTo>
                  <a:lnTo>
                    <a:pt x="10725912" y="2989961"/>
                  </a:lnTo>
                  <a:cubicBezTo>
                    <a:pt x="10725912" y="3320288"/>
                    <a:pt x="10458196" y="3588004"/>
                    <a:pt x="10127869" y="3588004"/>
                  </a:cubicBezTo>
                  <a:lnTo>
                    <a:pt x="598043" y="3588004"/>
                  </a:lnTo>
                  <a:cubicBezTo>
                    <a:pt x="267716" y="3588004"/>
                    <a:pt x="0" y="3320288"/>
                    <a:pt x="0" y="2989961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658969" y="5550132"/>
            <a:ext cx="724327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Creative Direction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58969" y="6144587"/>
            <a:ext cx="7243277" cy="160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Use consistent typography, real student photography, short-form video, strong hooks, proof-led CTAs and a recurring visual identity across Instagram, website and WhatsApp creatives.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4861" y="9809626"/>
            <a:ext cx="16151924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IPCS GLOBAL KOLLAM  •  MARKET ANALYSIS  |  09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073592" y="-198161"/>
            <a:ext cx="2371417" cy="1438659"/>
          </a:xfrm>
          <a:custGeom>
            <a:avLst/>
            <a:gdLst/>
            <a:ahLst/>
            <a:cxnLst/>
            <a:rect r="r" b="b" t="t" l="l"/>
            <a:pathLst>
              <a:path h="1438659" w="2371417">
                <a:moveTo>
                  <a:pt x="0" y="0"/>
                </a:moveTo>
                <a:lnTo>
                  <a:pt x="2371416" y="0"/>
                </a:lnTo>
                <a:lnTo>
                  <a:pt x="2371416" y="1438659"/>
                </a:lnTo>
                <a:lnTo>
                  <a:pt x="0" y="1438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D3A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672951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09  |  SWOT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1126" y="1459573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Strategic snapshot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3719" y="1983229"/>
            <a:ext cx="7975797" cy="2965542"/>
            <a:chOff x="0" y="0"/>
            <a:chExt cx="10634396" cy="3954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34345" cy="3954018"/>
            </a:xfrm>
            <a:custGeom>
              <a:avLst/>
              <a:gdLst/>
              <a:ahLst/>
              <a:cxnLst/>
              <a:rect r="r" b="b" t="t" l="l"/>
              <a:pathLst>
                <a:path h="3954018" w="10634345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9975342" y="0"/>
                  </a:lnTo>
                  <a:cubicBezTo>
                    <a:pt x="10339324" y="0"/>
                    <a:pt x="10634345" y="295021"/>
                    <a:pt x="10634345" y="659003"/>
                  </a:cubicBezTo>
                  <a:lnTo>
                    <a:pt x="10634345" y="3295015"/>
                  </a:lnTo>
                  <a:cubicBezTo>
                    <a:pt x="10634345" y="3658997"/>
                    <a:pt x="10339324" y="3954018"/>
                    <a:pt x="9975342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54293" y="2255720"/>
            <a:ext cx="717464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STRENGTHS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4293" y="2850175"/>
            <a:ext cx="7174640" cy="188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Established IPCS brand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Broad course portfolio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Industry-expert trainer positioning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Internship / industrial exposure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Central Kollam presence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58386" y="1983229"/>
            <a:ext cx="8044434" cy="2965542"/>
            <a:chOff x="0" y="0"/>
            <a:chExt cx="10725912" cy="39540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5912" cy="3954018"/>
            </a:xfrm>
            <a:custGeom>
              <a:avLst/>
              <a:gdLst/>
              <a:ahLst/>
              <a:cxnLst/>
              <a:rect r="r" b="b" t="t" l="l"/>
              <a:pathLst>
                <a:path h="3954018" w="10725912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10066909" y="0"/>
                  </a:lnTo>
                  <a:cubicBezTo>
                    <a:pt x="10430890" y="0"/>
                    <a:pt x="10725912" y="295021"/>
                    <a:pt x="10725912" y="659003"/>
                  </a:cubicBezTo>
                  <a:lnTo>
                    <a:pt x="10725912" y="3295015"/>
                  </a:lnTo>
                  <a:cubicBezTo>
                    <a:pt x="10725912" y="3658997"/>
                    <a:pt x="10430890" y="3954018"/>
                    <a:pt x="10066909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658969" y="2255720"/>
            <a:ext cx="724327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EF6363"/>
                </a:solidFill>
                <a:latin typeface="Aptos Bold"/>
                <a:ea typeface="Aptos Bold"/>
                <a:cs typeface="Aptos Bold"/>
                <a:sym typeface="Aptos Bold"/>
              </a:rPr>
              <a:t>WEAKNESSES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58969" y="2850175"/>
            <a:ext cx="7243277" cy="188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Kollam-specific proof can be stronger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Local content identity can be clearer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Need more visible student outcomes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Technical SEO/performance should be continuously audited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3719" y="5414905"/>
            <a:ext cx="7975797" cy="2965542"/>
            <a:chOff x="0" y="0"/>
            <a:chExt cx="10634396" cy="39540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34345" cy="3954018"/>
            </a:xfrm>
            <a:custGeom>
              <a:avLst/>
              <a:gdLst/>
              <a:ahLst/>
              <a:cxnLst/>
              <a:rect r="r" b="b" t="t" l="l"/>
              <a:pathLst>
                <a:path h="3954018" w="10634345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9975342" y="0"/>
                  </a:lnTo>
                  <a:cubicBezTo>
                    <a:pt x="10339324" y="0"/>
                    <a:pt x="10634345" y="295021"/>
                    <a:pt x="10634345" y="659003"/>
                  </a:cubicBezTo>
                  <a:lnTo>
                    <a:pt x="10634345" y="3295015"/>
                  </a:lnTo>
                  <a:cubicBezTo>
                    <a:pt x="10634345" y="3658997"/>
                    <a:pt x="10339324" y="3954018"/>
                    <a:pt x="9975342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354293" y="5687406"/>
            <a:ext cx="717464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OPPORTUNITIES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4293" y="6281852"/>
            <a:ext cx="7174640" cy="188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AI + digital marketing demand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Local SEO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Malayalam + English content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College collaborations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Student-generated content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YouTube educational search traffic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58386" y="5414905"/>
            <a:ext cx="8044434" cy="2965542"/>
            <a:chOff x="0" y="0"/>
            <a:chExt cx="10725912" cy="39540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25912" cy="3954018"/>
            </a:xfrm>
            <a:custGeom>
              <a:avLst/>
              <a:gdLst/>
              <a:ahLst/>
              <a:cxnLst/>
              <a:rect r="r" b="b" t="t" l="l"/>
              <a:pathLst>
                <a:path h="3954018" w="10725912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10066909" y="0"/>
                  </a:lnTo>
                  <a:cubicBezTo>
                    <a:pt x="10430890" y="0"/>
                    <a:pt x="10725912" y="295021"/>
                    <a:pt x="10725912" y="659003"/>
                  </a:cubicBezTo>
                  <a:lnTo>
                    <a:pt x="10725912" y="3295015"/>
                  </a:lnTo>
                  <a:cubicBezTo>
                    <a:pt x="10725912" y="3658997"/>
                    <a:pt x="10430890" y="3954018"/>
                    <a:pt x="10066909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658969" y="5687406"/>
            <a:ext cx="724327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BE48"/>
                </a:solidFill>
                <a:latin typeface="Aptos Bold"/>
                <a:ea typeface="Aptos Bold"/>
                <a:cs typeface="Aptos Bold"/>
                <a:sym typeface="Aptos Bold"/>
              </a:rPr>
              <a:t>THREATS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58969" y="6281852"/>
            <a:ext cx="7243277" cy="188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Growing local competition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AI-focused academies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Online course platforms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Price-based competition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• Student skepticism around placement claims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4861" y="9809626"/>
            <a:ext cx="16151924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IPCS GLOBAL KOLLAM  •  MARKET ANALYSIS  |  10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073592" y="-198161"/>
            <a:ext cx="2371417" cy="1438659"/>
          </a:xfrm>
          <a:custGeom>
            <a:avLst/>
            <a:gdLst/>
            <a:ahLst/>
            <a:cxnLst/>
            <a:rect r="r" b="b" t="t" l="l"/>
            <a:pathLst>
              <a:path h="1438659" w="2371417">
                <a:moveTo>
                  <a:pt x="0" y="0"/>
                </a:moveTo>
                <a:lnTo>
                  <a:pt x="2371416" y="0"/>
                </a:lnTo>
                <a:lnTo>
                  <a:pt x="2371416" y="1438659"/>
                </a:lnTo>
                <a:lnTo>
                  <a:pt x="0" y="1438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D3A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672951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10  |  Recommendations &amp; Improvements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9500" y="1361218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90-day action plan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9500" y="1853108"/>
            <a:ext cx="754971" cy="754971"/>
            <a:chOff x="0" y="0"/>
            <a:chExt cx="1006627" cy="10066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AD3A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20940" y="2036093"/>
            <a:ext cx="57209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1"/>
              </a:lnSpc>
            </a:pPr>
            <a:r>
              <a:rPr lang="en-US" sz="2601" b="true">
                <a:solidFill>
                  <a:srgbClr val="080C18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19087" y="1871377"/>
            <a:ext cx="311153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Own local search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64430" y="1871377"/>
            <a:ext cx="11622100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Build/refresh Kollam landing pages, GBP, reviews and local backlinks.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9500" y="3294412"/>
            <a:ext cx="754971" cy="754971"/>
            <a:chOff x="0" y="0"/>
            <a:chExt cx="1006627" cy="1006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AD3A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20940" y="3477397"/>
            <a:ext cx="57209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080C18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19087" y="3312681"/>
            <a:ext cx="311153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Show proof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64430" y="3312681"/>
            <a:ext cx="11622100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Publish weekly student projects, testimonials, trainer expertise and internship stories.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9500" y="4735716"/>
            <a:ext cx="754971" cy="754971"/>
            <a:chOff x="0" y="0"/>
            <a:chExt cx="1006627" cy="10066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AD3A8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20940" y="4918710"/>
            <a:ext cx="57209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080C18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19087" y="4753985"/>
            <a:ext cx="311153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Lead with AI + practical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30619" y="4781436"/>
            <a:ext cx="11622100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Demonstrate actual tools, workflows and campaign outcomes—not just claims.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9500" y="6177029"/>
            <a:ext cx="754971" cy="754971"/>
            <a:chOff x="0" y="0"/>
            <a:chExt cx="1006627" cy="10066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AD3A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20940" y="6360014"/>
            <a:ext cx="57209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080C18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19087" y="6195289"/>
            <a:ext cx="311153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Build a content funnel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30619" y="6239647"/>
            <a:ext cx="11622100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Reel → profile → landing page → WhatsApp/counselling → admission.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9500" y="7618333"/>
            <a:ext cx="754971" cy="754971"/>
            <a:chOff x="0" y="0"/>
            <a:chExt cx="1006627" cy="10066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AD3A8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20940" y="7801318"/>
            <a:ext cx="57209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080C18"/>
                </a:solidFill>
                <a:latin typeface="Aptos Bold"/>
                <a:ea typeface="Aptos Bold"/>
                <a:cs typeface="Aptos Bold"/>
                <a:sym typeface="Aptos Bold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19087" y="7636602"/>
            <a:ext cx="311153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Measure everything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64430" y="7636602"/>
            <a:ext cx="11622100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Monthly dashboard: rankings, organic clicks, leads, social reach, enquiries and conversions.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9577" y="9036720"/>
            <a:ext cx="1601465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Priority: local SEO + proof-led content + conversion tracking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4861" y="9809626"/>
            <a:ext cx="16151924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IPCS GLOBAL KOLLAM  •  MARKET ANALYSIS  |  11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6073592" y="-198161"/>
            <a:ext cx="2371417" cy="1438659"/>
          </a:xfrm>
          <a:custGeom>
            <a:avLst/>
            <a:gdLst/>
            <a:ahLst/>
            <a:cxnLst/>
            <a:rect r="r" b="b" t="t" l="l"/>
            <a:pathLst>
              <a:path h="1438659" w="2371417">
                <a:moveTo>
                  <a:pt x="0" y="0"/>
                </a:moveTo>
                <a:lnTo>
                  <a:pt x="2371416" y="0"/>
                </a:lnTo>
                <a:lnTo>
                  <a:pt x="2371416" y="1438659"/>
                </a:lnTo>
                <a:lnTo>
                  <a:pt x="0" y="1438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D3A8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89163" y="1434928"/>
            <a:ext cx="7136342" cy="4028646"/>
          </a:xfrm>
          <a:custGeom>
            <a:avLst/>
            <a:gdLst/>
            <a:ahLst/>
            <a:cxnLst/>
            <a:rect r="r" b="b" t="t" l="l"/>
            <a:pathLst>
              <a:path h="4028646" w="7136342">
                <a:moveTo>
                  <a:pt x="0" y="0"/>
                </a:moveTo>
                <a:lnTo>
                  <a:pt x="7136342" y="0"/>
                </a:lnTo>
                <a:lnTo>
                  <a:pt x="7136342" y="4028645"/>
                </a:lnTo>
                <a:lnTo>
                  <a:pt x="0" y="40286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15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92199" y="1556257"/>
            <a:ext cx="8183157" cy="3579237"/>
          </a:xfrm>
          <a:custGeom>
            <a:avLst/>
            <a:gdLst/>
            <a:ahLst/>
            <a:cxnLst/>
            <a:rect r="r" b="b" t="t" l="l"/>
            <a:pathLst>
              <a:path h="3579237" w="8183157">
                <a:moveTo>
                  <a:pt x="0" y="0"/>
                </a:moveTo>
                <a:lnTo>
                  <a:pt x="8183157" y="0"/>
                </a:lnTo>
                <a:lnTo>
                  <a:pt x="8183157" y="3579237"/>
                </a:lnTo>
                <a:lnTo>
                  <a:pt x="0" y="3579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76" t="-1828" r="-87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2612" y="5625498"/>
            <a:ext cx="2425788" cy="4308300"/>
          </a:xfrm>
          <a:custGeom>
            <a:avLst/>
            <a:gdLst/>
            <a:ahLst/>
            <a:cxnLst/>
            <a:rect r="r" b="b" t="t" l="l"/>
            <a:pathLst>
              <a:path h="4308300" w="2425788">
                <a:moveTo>
                  <a:pt x="0" y="0"/>
                </a:moveTo>
                <a:lnTo>
                  <a:pt x="2425788" y="0"/>
                </a:lnTo>
                <a:lnTo>
                  <a:pt x="2425788" y="4308300"/>
                </a:lnTo>
                <a:lnTo>
                  <a:pt x="0" y="430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08156" y="5533528"/>
            <a:ext cx="6951242" cy="4492240"/>
          </a:xfrm>
          <a:custGeom>
            <a:avLst/>
            <a:gdLst/>
            <a:ahLst/>
            <a:cxnLst/>
            <a:rect r="r" b="b" t="t" l="l"/>
            <a:pathLst>
              <a:path h="4492240" w="6951242">
                <a:moveTo>
                  <a:pt x="0" y="0"/>
                </a:moveTo>
                <a:lnTo>
                  <a:pt x="6951242" y="0"/>
                </a:lnTo>
                <a:lnTo>
                  <a:pt x="6951242" y="4492241"/>
                </a:lnTo>
                <a:lnTo>
                  <a:pt x="0" y="4492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3675" y="672951"/>
            <a:ext cx="453427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11  |  OBSERVATION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073592" y="-198161"/>
            <a:ext cx="2371417" cy="1438659"/>
          </a:xfrm>
          <a:custGeom>
            <a:avLst/>
            <a:gdLst/>
            <a:ahLst/>
            <a:cxnLst/>
            <a:rect r="r" b="b" t="t" l="l"/>
            <a:pathLst>
              <a:path h="1438659" w="2371417">
                <a:moveTo>
                  <a:pt x="0" y="0"/>
                </a:moveTo>
                <a:lnTo>
                  <a:pt x="2371416" y="0"/>
                </a:lnTo>
                <a:lnTo>
                  <a:pt x="2371416" y="1438659"/>
                </a:lnTo>
                <a:lnTo>
                  <a:pt x="0" y="14386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D3A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672951"/>
            <a:ext cx="379482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12  |  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1126" y="1459573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The opportunity is not only to compete — it is to become the most visible, proof-driven digital marketing brand in Kollam.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2356" y="2120494"/>
            <a:ext cx="5093189" cy="2896914"/>
            <a:chOff x="0" y="0"/>
            <a:chExt cx="6790919" cy="38625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90944" cy="3862578"/>
            </a:xfrm>
            <a:custGeom>
              <a:avLst/>
              <a:gdLst/>
              <a:ahLst/>
              <a:cxnLst/>
              <a:rect r="r" b="b" t="t" l="l"/>
              <a:pathLst>
                <a:path h="3862578" w="6790944">
                  <a:moveTo>
                    <a:pt x="0" y="643763"/>
                  </a:moveTo>
                  <a:cubicBezTo>
                    <a:pt x="0" y="288163"/>
                    <a:pt x="288163" y="0"/>
                    <a:pt x="643763" y="0"/>
                  </a:cubicBezTo>
                  <a:lnTo>
                    <a:pt x="6147181" y="0"/>
                  </a:lnTo>
                  <a:cubicBezTo>
                    <a:pt x="6502781" y="0"/>
                    <a:pt x="6790944" y="288163"/>
                    <a:pt x="6790944" y="643763"/>
                  </a:cubicBezTo>
                  <a:lnTo>
                    <a:pt x="6790944" y="3218815"/>
                  </a:lnTo>
                  <a:cubicBezTo>
                    <a:pt x="6790944" y="3574415"/>
                    <a:pt x="6502781" y="3862578"/>
                    <a:pt x="6147181" y="3862578"/>
                  </a:cubicBezTo>
                  <a:lnTo>
                    <a:pt x="643763" y="3862578"/>
                  </a:lnTo>
                  <a:cubicBezTo>
                    <a:pt x="288163" y="3862578"/>
                    <a:pt x="0" y="3574415"/>
                    <a:pt x="0" y="3218815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422930" y="2392994"/>
            <a:ext cx="429203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Market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2930" y="2987440"/>
            <a:ext cx="4292032" cy="18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Demand is career-led: students and professionals want practical, employable skills.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609131" y="2120494"/>
            <a:ext cx="5093189" cy="2896914"/>
            <a:chOff x="0" y="0"/>
            <a:chExt cx="6790919" cy="38625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90944" cy="3862578"/>
            </a:xfrm>
            <a:custGeom>
              <a:avLst/>
              <a:gdLst/>
              <a:ahLst/>
              <a:cxnLst/>
              <a:rect r="r" b="b" t="t" l="l"/>
              <a:pathLst>
                <a:path h="3862578" w="6790944">
                  <a:moveTo>
                    <a:pt x="0" y="643763"/>
                  </a:moveTo>
                  <a:cubicBezTo>
                    <a:pt x="0" y="288163"/>
                    <a:pt x="288163" y="0"/>
                    <a:pt x="643763" y="0"/>
                  </a:cubicBezTo>
                  <a:lnTo>
                    <a:pt x="6147181" y="0"/>
                  </a:lnTo>
                  <a:cubicBezTo>
                    <a:pt x="6502781" y="0"/>
                    <a:pt x="6790944" y="288163"/>
                    <a:pt x="6790944" y="643763"/>
                  </a:cubicBezTo>
                  <a:lnTo>
                    <a:pt x="6790944" y="3218815"/>
                  </a:lnTo>
                  <a:cubicBezTo>
                    <a:pt x="6790944" y="3574415"/>
                    <a:pt x="6502781" y="3862578"/>
                    <a:pt x="6147181" y="3862578"/>
                  </a:cubicBezTo>
                  <a:lnTo>
                    <a:pt x="643763" y="3862578"/>
                  </a:lnTo>
                  <a:cubicBezTo>
                    <a:pt x="288163" y="3862578"/>
                    <a:pt x="0" y="3574415"/>
                    <a:pt x="0" y="3218815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7009705" y="2392994"/>
            <a:ext cx="429203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58CFF"/>
                </a:solidFill>
                <a:latin typeface="Aptos Bold"/>
                <a:ea typeface="Aptos Bold"/>
                <a:cs typeface="Aptos Bold"/>
                <a:sym typeface="Aptos Bold"/>
              </a:rPr>
              <a:t>Competition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09705" y="2987440"/>
            <a:ext cx="4292032" cy="18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Competitors increasingly emphasize AI, agency exposure, live projects and placement support.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209631" y="2120494"/>
            <a:ext cx="5093189" cy="2896914"/>
            <a:chOff x="0" y="0"/>
            <a:chExt cx="6790919" cy="38625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90944" cy="3862578"/>
            </a:xfrm>
            <a:custGeom>
              <a:avLst/>
              <a:gdLst/>
              <a:ahLst/>
              <a:cxnLst/>
              <a:rect r="r" b="b" t="t" l="l"/>
              <a:pathLst>
                <a:path h="3862578" w="6790944">
                  <a:moveTo>
                    <a:pt x="0" y="643763"/>
                  </a:moveTo>
                  <a:cubicBezTo>
                    <a:pt x="0" y="288163"/>
                    <a:pt x="288163" y="0"/>
                    <a:pt x="643763" y="0"/>
                  </a:cubicBezTo>
                  <a:lnTo>
                    <a:pt x="6147181" y="0"/>
                  </a:lnTo>
                  <a:cubicBezTo>
                    <a:pt x="6502781" y="0"/>
                    <a:pt x="6790944" y="288163"/>
                    <a:pt x="6790944" y="643763"/>
                  </a:cubicBezTo>
                  <a:lnTo>
                    <a:pt x="6790944" y="3218815"/>
                  </a:lnTo>
                  <a:cubicBezTo>
                    <a:pt x="6790944" y="3574415"/>
                    <a:pt x="6502781" y="3862578"/>
                    <a:pt x="6147181" y="3862578"/>
                  </a:cubicBezTo>
                  <a:lnTo>
                    <a:pt x="643763" y="3862578"/>
                  </a:lnTo>
                  <a:cubicBezTo>
                    <a:pt x="288163" y="3862578"/>
                    <a:pt x="0" y="3574415"/>
                    <a:pt x="0" y="3218815"/>
                  </a:cubicBezTo>
                  <a:close/>
                </a:path>
              </a:pathLst>
            </a:custGeom>
            <a:solidFill>
              <a:srgbClr val="12192A"/>
            </a:solidFill>
            <a:ln w="14299" cap="sq">
              <a:solidFill>
                <a:srgbClr val="26324C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610214" y="2392994"/>
            <a:ext cx="429203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BE48"/>
                </a:solidFill>
                <a:latin typeface="Aptos Bold"/>
                <a:ea typeface="Aptos Bold"/>
                <a:cs typeface="Aptos Bold"/>
                <a:sym typeface="Aptos Bold"/>
              </a:rPr>
              <a:t>Growth Lever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10214" y="2987440"/>
            <a:ext cx="4292032" cy="18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IPCS can win through stronger local SEO, authentic proof and consistent educational content.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9577" y="5879573"/>
            <a:ext cx="393513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AD3A8"/>
                </a:solidFill>
                <a:latin typeface="Aptos Bold"/>
                <a:ea typeface="Aptos Bold"/>
                <a:cs typeface="Aptos Bold"/>
                <a:sym typeface="Aptos Bold"/>
              </a:rPr>
              <a:t>FINAL RECOMMENDATION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577" y="6497279"/>
            <a:ext cx="15465590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Make IPCS Global Kollam visible everywhere a prospective student searches, learns, compares and asks for proof.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9577" y="8487651"/>
            <a:ext cx="15740120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Sources: IPCS Global Kollam official course page; CIIM Kollam official course page; Dmake Academy official site. Competitor claims are presented as published by the respective brands.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4861" y="9809626"/>
            <a:ext cx="16151924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FB9C8"/>
                </a:solidFill>
                <a:latin typeface="Aptos"/>
                <a:ea typeface="Aptos"/>
                <a:cs typeface="Aptos"/>
                <a:sym typeface="Aptos"/>
              </a:rPr>
              <a:t>IPCS GLOBAL KOLLAM  •  MARKET ANALYSIS  |  12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6073592" y="-198161"/>
            <a:ext cx="2371417" cy="1438659"/>
          </a:xfrm>
          <a:custGeom>
            <a:avLst/>
            <a:gdLst/>
            <a:ahLst/>
            <a:cxnLst/>
            <a:rect r="r" b="b" t="t" l="l"/>
            <a:pathLst>
              <a:path h="1438659" w="2371417">
                <a:moveTo>
                  <a:pt x="0" y="0"/>
                </a:moveTo>
                <a:lnTo>
                  <a:pt x="2371416" y="0"/>
                </a:lnTo>
                <a:lnTo>
                  <a:pt x="2371416" y="1438659"/>
                </a:lnTo>
                <a:lnTo>
                  <a:pt x="0" y="1438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DAHSoqwWJWQ</dc:identifier>
  <dcterms:modified xsi:type="dcterms:W3CDTF">2011-08-01T06:04:30Z</dcterms:modified>
  <cp:revision>1</cp:revision>
  <dc:title>Market Analysis of IPCS Kollam.pptx</dc:title>
</cp:coreProperties>
</file>