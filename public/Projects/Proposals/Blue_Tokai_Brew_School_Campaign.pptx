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C5665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548640"/>
            <a:ext cx="3200400" cy="3200400"/>
          </a:xfrm>
          <a:prstGeom prst="ellipse">
            <a:avLst/>
          </a:prstGeom>
          <a:ln w="19050">
            <a:solidFill>
              <a:srgbClr val="E7E8D1">
                <a:alpha val="6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CAMPAIGN PROPOSAL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144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Tokai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 Roasters</a:t>
            </a:r>
            <a:endParaRPr lang="en-US" sz="4400" dirty="0"/>
          </a:p>
        </p:txBody>
      </p:sp>
      <p:pic>
        <p:nvPicPr>
          <p:cNvPr id="6" name="Image 0" descr="icons/coffee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80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2834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specialty coffee company — hand-roasted, single-origin beans, farm-to-cup transparency, and a growing café + D2C footprint across India and the UAE.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7680960" cy="18288"/>
          </a:xfrm>
          <a:prstGeom prst="rect">
            <a:avLst/>
          </a:prstGeom>
          <a:solidFill>
            <a:srgbClr val="E7E8D1">
              <a:alpha val="40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CHOSE THIS BRAND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5262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"Blue Tokai has real sourcing credibility and a genuinely great origin story — but its Instagram feed reads like a corporate newsroom, not a coffee companion for someone still learning specialty coffee."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2013  ·  800+ store expansion target  ·  ARR goal ₹1,000 Cr by 2027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BRAND AUDIT · INSTAGRAM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already on the grid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@bluetokaicoffee reviewed as the primary platform — it's their most active channel and where the brand voice shows up most clearly.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E7E8D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860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images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41448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types today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Café-opening announcements, "Producer Series" origin/farm stories, founder narratives (incl. brand partnerships), and "meet the team" culture posts.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E7E8D1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22860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seedling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4414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1880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working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611880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storytelling builds real trust — transparency about farms and roasting is the brand's genuine edge, and it reads as premium, not gimmicky.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01168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E7E8D1"/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22860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chart_terraco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44144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feels weak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skew toward announcements and brand-facing news. It talks about the company more than it talks to the person holding the bag at home.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52560" y="2011680"/>
            <a:ext cx="2606040" cy="3931920"/>
          </a:xfrm>
          <a:prstGeom prst="roundRect">
            <a:avLst>
              <a:gd name="adj" fmla="val 2807"/>
            </a:avLst>
          </a:prstGeom>
          <a:solidFill>
            <a:srgbClr val="E7E8D1"/>
          </a:solidFill>
          <a:ln/>
        </p:spPr>
      </p:sp>
      <p:sp>
        <p:nvSpPr>
          <p:cNvPr id="21" name="Shape 16"/>
          <p:cNvSpPr/>
          <p:nvPr/>
        </p:nvSpPr>
        <p:spPr>
          <a:xfrm>
            <a:off x="9281160" y="22860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icons/book_terracot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244144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81160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281160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Beginner-friendly, practical content — how to actually brew what you bought. No recurring, interactive format people watch for or engage with weekly.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campaign is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309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</p:spPr>
      </p:sp>
      <p:pic>
        <p:nvPicPr>
          <p:cNvPr id="5" name="Image 0" descr="icons/target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51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at-home specialty convert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004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working professionals, 24–35, in metros and large tier-1 cities. They've upgraded from instant coffee to a grinder or pour-over at home, but still feel out of their depth around origin, roast, and brew ratio — a growing segment as India's specialty coffee market moves from niche to mainstream.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178040" y="1737360"/>
            <a:ext cx="4434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7360920" y="1911096"/>
            <a:ext cx="310896" cy="31089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18120" y="17373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WFH / hybrid schedule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78040" y="2578608"/>
            <a:ext cx="4434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7360920" y="2752344"/>
            <a:ext cx="310896" cy="31089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18120" y="25786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habits via Reels &amp; YouTube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78040" y="3419856"/>
            <a:ext cx="4434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7360920" y="3593592"/>
            <a:ext cx="310896" cy="31089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818120" y="341985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"one good daily ritual"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78040" y="4261104"/>
            <a:ext cx="4434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7360920" y="4434840"/>
            <a:ext cx="310896" cy="31089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818120" y="42611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 grinder, V60, or AeroPress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78040" y="5102352"/>
            <a:ext cx="44348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360920" y="5276088"/>
            <a:ext cx="310896" cy="310896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818120" y="51023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specialty coffee, not new to coffee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44291C">
              <a:alpha val="8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IDEA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consumer insight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home-coffee boom has outpaced home-coffee literacy. People buy a beautiful bag of single-origin beans, brew it wrong once, and quietly go back to instant — not because they didn't like it, but because no one showed them how.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972800" cy="18288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7" name="Image 0" descr="icons/coffee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718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NAME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246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Tokai Brew School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420624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3D291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MESSAGE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75488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don’t need a café to make café-quality coffee. We’ll teach you, one cup at a time.”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idea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E7E8D1"/>
          </a:solidFill>
          <a:ln/>
        </p:spPr>
      </p:sp>
      <p:pic>
        <p:nvPicPr>
          <p:cNvPr id="5" name="Image 0" descr="icons/seedling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43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 the brand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918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Tokai already owns sourcing and roasting expertise — Brew School turns that authority into teaching, not just imagery.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Deepens trust instead of only projecting premium aesthetics.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existing assets: roasters, baristas, and origin knowledge become on-camera talent.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09360" y="178308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B85042"/>
          </a:solidFill>
          <a:ln/>
        </p:spPr>
      </p:sp>
      <p:pic>
        <p:nvPicPr>
          <p:cNvPr id="9" name="Image 1" descr="icons/target_s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1031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29400" y="2743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 to the audience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6629400" y="32918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intimidation barrier that stops first-time buyers from repurchasing.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single purchase into a weekly habit and reason to keep coming back.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audience in the format they already use to learn — short, skimmable video.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pieces to launch Brew School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6" name="Image 0" descr="icons/play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 SERIES · WEEKLY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“60-Second Brew”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brew method per week (V60, AeroPress, French press), filmed on a home kitchen counter — not a café — with on-screen ratio and timer overlays so it feels doable, not aspirational.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6916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1965960"/>
            <a:ext cx="640080" cy="640080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2" name="Image 1" descr="icons/images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1214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“Decode Your Coffee Bag”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370332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swipeable carousel translating roast date, origin, and tasting-note labels on Blue Tokai packaging into plain language for beginners. Ends on a “save this” CTA for repeat reference.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0" y="169164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8503920" y="1965960"/>
            <a:ext cx="640080" cy="640080"/>
          </a:xfrm>
          <a:prstGeom prst="ellipse">
            <a:avLst/>
          </a:prstGeom>
          <a:solidFill>
            <a:srgbClr val="E7E8D1"/>
          </a:solidFill>
          <a:ln/>
        </p:spPr>
      </p:sp>
      <p:pic>
        <p:nvPicPr>
          <p:cNvPr id="18" name="Image 2" descr="icons/comment_terraco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1214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03920" y="27432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STORIES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3063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“Brew or Bin?”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503920" y="3703320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Poll- and quiz-driven Stories where followers troubleshoot common mistakes (too bitter? too weak?) and get a fix from Blue Tokai — driving replies and linking into a permanent “Brew School” highlight.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C56655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Tokai Brew School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Blue Tokai’s real sourcing credibility off the newsroom feed and into the hands of the person still learning how to brew it — one 60-second lesson at a time.</a:t>
            </a:r>
            <a:endParaRPr lang="en-US" sz="1600" dirty="0"/>
          </a:p>
        </p:txBody>
      </p:sp>
      <p:pic>
        <p:nvPicPr>
          <p:cNvPr id="6" name="Image 0" descr="icons/mu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0175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834640" y="2971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literacy hasn't kept up with home-coffee adoption</a:t>
            </a:r>
            <a:endParaRPr lang="en-US" sz="1350" dirty="0"/>
          </a:p>
        </p:txBody>
      </p:sp>
      <p:pic>
        <p:nvPicPr>
          <p:cNvPr id="9" name="Image 1" descr="icons/play_s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7033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657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834640" y="36576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reels, a carousel guide, interactive Stories</a:t>
            </a:r>
            <a:endParaRPr lang="en-US" sz="1350" dirty="0"/>
          </a:p>
        </p:txBody>
      </p:sp>
      <p:pic>
        <p:nvPicPr>
          <p:cNvPr id="12" name="Image 2" descr="icons/target_s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38912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4343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2834640" y="43434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buyers become repeat, confident brewers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2026-09-23T06:10:25Z</dcterms:created>
  <dcterms:modified xsi:type="dcterms:W3CDTF">2026-09-23T06:10:25Z</dcterms:modified>
</cp:coreProperties>
</file>